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Lato" panose="020F0502020204030203" pitchFamily="34" charset="0"/>
      <p:regular r:id="rId53"/>
      <p:bold r:id="rId54"/>
      <p:italic r:id="rId55"/>
      <p:boldItalic r:id="rId56"/>
    </p:embeddedFont>
    <p:embeddedFont>
      <p:font typeface="Playfair Display" panose="00000500000000000000" pitchFamily="2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E0DE43-40B2-4231-A45D-DE027B97D821}">
  <a:tblStyle styleId="{E8E0DE43-40B2-4231-A45D-DE027B97D8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39205" y="2322165"/>
            <a:ext cx="8713589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Keamanan Data &amp;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Cybersecurity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46671" y="4381240"/>
            <a:ext cx="829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Memahami CIA Triad, InfoSec, dan Elemen Pembentuk Ruang Siber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7296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46251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19537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92823"/>
            <a:ext cx="2000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Agenda Pembahasan</a:t>
            </a:r>
            <a:endParaRPr sz="1800"/>
          </a:p>
        </p:txBody>
      </p:sp>
      <p:sp>
        <p:nvSpPr>
          <p:cNvPr id="97" name="Google Shape;97;p14"/>
          <p:cNvSpPr txBox="1"/>
          <p:nvPr/>
        </p:nvSpPr>
        <p:spPr>
          <a:xfrm>
            <a:off x="1057275" y="2758678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Bagian 1: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Konsep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Dasar Data dan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endParaRPr sz="18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3331964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Bagian 2: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Information Security (InfoSec) vs Cybersecurity</a:t>
            </a:r>
            <a:endParaRPr sz="1800"/>
          </a:p>
        </p:txBody>
      </p:sp>
      <p:sp>
        <p:nvSpPr>
          <p:cNvPr id="99" name="Google Shape;99;p14"/>
          <p:cNvSpPr txBox="1"/>
          <p:nvPr/>
        </p:nvSpPr>
        <p:spPr>
          <a:xfrm>
            <a:off x="1057275" y="3905250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Bagian 3: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Fondasi Keamanan: The CIA Triad</a:t>
            </a:r>
            <a:endParaRPr sz="1800"/>
          </a:p>
        </p:txBody>
      </p:sp>
      <p:sp>
        <p:nvSpPr>
          <p:cNvPr id="100" name="Google Shape;100;p14"/>
          <p:cNvSpPr txBox="1"/>
          <p:nvPr/>
        </p:nvSpPr>
        <p:spPr>
          <a:xfrm>
            <a:off x="1057275" y="4478535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Bagian 4: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Elemen Pembentuk Ruang Siber (Cyberspace)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5381625" y="2722215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02406" y="3141315"/>
            <a:ext cx="11787187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Konsep Dasar Data &amp; Informasi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3315890" y="4150965"/>
            <a:ext cx="5560218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Fondasi dari segala sesuatu yang kita lindungi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41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242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2430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24400"/>
            <a:ext cx="952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Era Digital: Era Data</a:t>
            </a:r>
            <a:endParaRPr sz="1800"/>
          </a:p>
        </p:txBody>
      </p:sp>
      <p:sp>
        <p:nvSpPr>
          <p:cNvPr id="119" name="Google Shape;119;p16"/>
          <p:cNvSpPr txBox="1"/>
          <p:nvPr/>
        </p:nvSpPr>
        <p:spPr>
          <a:xfrm>
            <a:off x="866775" y="2305050"/>
            <a:ext cx="107442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Dunia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digerakkan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oleh data.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Setiap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transaksi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komunikasi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interaksi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menghasilkan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jejak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digital.</a:t>
            </a:r>
            <a:endParaRPr sz="180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3105150"/>
            <a:ext cx="1063434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Aset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paling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berharga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bagi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sebuah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organisasi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modern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bukanlah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fisik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melainkan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mereka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miliki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905250"/>
            <a:ext cx="1063434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Namun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kemudahan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akses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konektivitas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pula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risiko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sangat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4705350"/>
            <a:ext cx="98520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Pemahaman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tentang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dilindungi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langkah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pertama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membangun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keamanan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Apa itu Data?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712533" y="2612231"/>
            <a:ext cx="10766784" cy="192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"Data adalah fakta mentah, angka, atau observasi yang belum memiliki konteks atau makna yang jelas."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4208710" y="4922043"/>
            <a:ext cx="37742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Contoh: 10101, Budi, 500000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217711" y="2993231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0631240" y="4445793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Apa itu Informasi?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712533" y="2612231"/>
            <a:ext cx="10766784" cy="192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"Informasi adalah data yang telah diproses, diorganisir, dan diberi konteks sehingga memiliki makna dan nilai."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2494210" y="4922043"/>
            <a:ext cx="720328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Contoh: Budi memiliki saldo Rp 500.000 di rekeningnya.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217711" y="2993231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0631240" y="4445793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581025" y="2100262"/>
            <a:ext cx="3486150" cy="3609975"/>
          </a:xfrm>
          <a:prstGeom prst="roundRect">
            <a:avLst>
              <a:gd name="adj" fmla="val 3278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352925" y="2100262"/>
            <a:ext cx="3486150" cy="3609975"/>
          </a:xfrm>
          <a:prstGeom prst="roundRect">
            <a:avLst>
              <a:gd name="adj" fmla="val 3278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8124825" y="2100262"/>
            <a:ext cx="3486150" cy="3609975"/>
          </a:xfrm>
          <a:prstGeom prst="roundRect">
            <a:avLst>
              <a:gd name="adj" fmla="val 3278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4550" y="253841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25384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9775" y="25384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Mengapa Informasi Bernilai?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423862" y="3300412"/>
            <a:ext cx="380047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Keunggulan Strategis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14350" y="4262437"/>
            <a:ext cx="361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 pelanggan atau riset pasar memberikan keunggulan kompetitif terhadap pesaing bisnis.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814589" y="3300412"/>
            <a:ext cx="256282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Aset Finansial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4286250" y="3852862"/>
            <a:ext cx="3619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finansial dan kekayaan intelektual (IP) memiliki nilai moneter langsung jika dijual atau digunakan.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8705254" y="3300412"/>
            <a:ext cx="232529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Kepercayaan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058150" y="3852862"/>
            <a:ext cx="361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pribadi yang dikelola dengan baik membangun kepercayaan antara pelanggan dan perusahaan.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Risiko di Era Digital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-72628" y="3038475"/>
            <a:ext cx="6536531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68%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-72628" y="4467225"/>
            <a:ext cx="65365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Pemimpin Bisnis Merasa Rentan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381750" y="2947987"/>
            <a:ext cx="5810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Ancaman Semakin Nyata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381750" y="3500437"/>
            <a:ext cx="53244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Seiring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meningkatnya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nilai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data, target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serangan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siber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juga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meningkat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Serangan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lagi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hanya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menyasar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infrastruktur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fisik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tetapi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langsung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menargetkan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pusat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identitas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aset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digital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organisasi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260730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" y="34937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360" y="409479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8170" y="4677369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Kenapa Harus Dilindungi?</a:t>
            </a:r>
            <a:endParaRPr sz="1800"/>
          </a:p>
        </p:txBody>
      </p:sp>
      <p:sp>
        <p:nvSpPr>
          <p:cNvPr id="181" name="Google Shape;181;p21"/>
          <p:cNvSpPr txBox="1"/>
          <p:nvPr/>
        </p:nvSpPr>
        <p:spPr>
          <a:xfrm>
            <a:off x="1057275" y="2423517"/>
            <a:ext cx="9144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Kepatuhan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Hukum: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Undang-undang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seperti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GDPR, UU PDP)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mewajibkan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perlindungan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pribadi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182" name="Google Shape;182;p21"/>
          <p:cNvSpPr txBox="1"/>
          <p:nvPr/>
        </p:nvSpPr>
        <p:spPr>
          <a:xfrm>
            <a:off x="1057275" y="3331964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Kerugian Finansial: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Kebocoran data menyebabkan denda miliaran rupiah dan kompensasi hukum.</a:t>
            </a:r>
            <a:endParaRPr sz="1800"/>
          </a:p>
        </p:txBody>
      </p:sp>
      <p:sp>
        <p:nvSpPr>
          <p:cNvPr id="183" name="Google Shape;183;p21"/>
          <p:cNvSpPr txBox="1"/>
          <p:nvPr/>
        </p:nvSpPr>
        <p:spPr>
          <a:xfrm>
            <a:off x="1057275" y="3905250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Reputasi Hancur: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Sekali data pelanggan bocor, kepercayaan sangat sulit untuk dikembalikan.</a:t>
            </a:r>
            <a:endParaRPr sz="1800"/>
          </a:p>
        </p:txBody>
      </p:sp>
      <p:sp>
        <p:nvSpPr>
          <p:cNvPr id="184" name="Google Shape;184;p21"/>
          <p:cNvSpPr txBox="1"/>
          <p:nvPr/>
        </p:nvSpPr>
        <p:spPr>
          <a:xfrm>
            <a:off x="1057275" y="4478535"/>
            <a:ext cx="9144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Kelangsungan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Bisnis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Serangan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ransomware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menghentikan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operasional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perusahaan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berhari-hari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/>
          <p:nvPr/>
        </p:nvSpPr>
        <p:spPr>
          <a:xfrm>
            <a:off x="5381625" y="2722215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1482923" y="3141315"/>
            <a:ext cx="9226153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InfoSec vs Cybersecurity</a:t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3250406" y="4150965"/>
            <a:ext cx="569118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Memahami Batasan dan Perbedaan Keduanya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/>
          <p:nvPr/>
        </p:nvSpPr>
        <p:spPr>
          <a:xfrm>
            <a:off x="581025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6381750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Information Security (InfoSec)</a:t>
            </a:r>
            <a:endParaRPr sz="1600"/>
          </a:p>
        </p:txBody>
      </p:sp>
      <p:sp>
        <p:nvSpPr>
          <p:cNvPr id="201" name="Google Shape;201;p23"/>
          <p:cNvSpPr txBox="1"/>
          <p:nvPr/>
        </p:nvSpPr>
        <p:spPr>
          <a:xfrm>
            <a:off x="276522" y="3100387"/>
            <a:ext cx="58382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Definisi</a:t>
            </a:r>
            <a:endParaRPr sz="1600"/>
          </a:p>
        </p:txBody>
      </p:sp>
      <p:sp>
        <p:nvSpPr>
          <p:cNvPr id="202" name="Google Shape;202;p23"/>
          <p:cNvSpPr txBox="1"/>
          <p:nvPr/>
        </p:nvSpPr>
        <p:spPr>
          <a:xfrm>
            <a:off x="741680" y="3652837"/>
            <a:ext cx="4903073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Praktik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melindungi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akses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penggunaan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pengungkapan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gangguan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modifikasi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atau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penghancuran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sah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00" dirty="0"/>
          </a:p>
        </p:txBody>
      </p:sp>
      <p:sp>
        <p:nvSpPr>
          <p:cNvPr id="203" name="Google Shape;203;p23"/>
          <p:cNvSpPr txBox="1"/>
          <p:nvPr/>
        </p:nvSpPr>
        <p:spPr>
          <a:xfrm>
            <a:off x="6077247" y="3100387"/>
            <a:ext cx="58382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Fokus Utama</a:t>
            </a:r>
            <a:endParaRPr sz="1600"/>
          </a:p>
        </p:txBody>
      </p:sp>
      <p:sp>
        <p:nvSpPr>
          <p:cNvPr id="204" name="Google Shape;204;p23"/>
          <p:cNvSpPr txBox="1"/>
          <p:nvPr/>
        </p:nvSpPr>
        <p:spPr>
          <a:xfrm>
            <a:off x="6216253" y="3652837"/>
            <a:ext cx="5560218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Melindungi data secara luas (baik fisik maupun digital) menggunakan kerangka kerja CIA Triad.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17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718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719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02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9850" y="2038350"/>
            <a:ext cx="515302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Cakupan InfoSec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866775" y="25527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Meliputi Segalanya: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InfoSec tidak hanya peduli pada data di server, tetapi juga dokumen kertas di laci meja.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866775" y="33528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Kebijakan &amp; Prosedur: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Fokus pada pembuatan SOP keamanan, manajemen risiko, dan tata kelola (Governance).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866775" y="41529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Keamanan Fisik: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Melindungi brankas, mengatur akses masuk ke gedung, dan memastikan tidak ada dokumen rahasia tertinggal di printer.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/>
          <p:nvPr/>
        </p:nvSpPr>
        <p:spPr>
          <a:xfrm>
            <a:off x="581025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6381750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Cybersecurity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276522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Definisi</a:t>
            </a:r>
            <a:endParaRPr/>
          </a:p>
        </p:txBody>
      </p:sp>
      <p:sp>
        <p:nvSpPr>
          <p:cNvPr id="228" name="Google Shape;228;p25"/>
          <p:cNvSpPr txBox="1"/>
          <p:nvPr/>
        </p:nvSpPr>
        <p:spPr>
          <a:xfrm>
            <a:off x="415528" y="3652837"/>
            <a:ext cx="556021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Praktik melindungi sistem, jaringan, dan program digital dari serangan digital (cyber attacks).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6077247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Fokus Utama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6547246" y="3652837"/>
            <a:ext cx="489823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Mencegah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peretas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(hackers)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mengakses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aset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digital dan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melindungi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infrastruktur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teknologi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ancaman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siber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581025" y="581025"/>
            <a:ext cx="692586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Cakupan Cybersecurity</a:t>
            </a:r>
            <a:endParaRPr sz="1800"/>
          </a:p>
        </p:txBody>
      </p:sp>
      <p:sp>
        <p:nvSpPr>
          <p:cNvPr id="238" name="Google Shape;238;p26"/>
          <p:cNvSpPr txBox="1"/>
          <p:nvPr/>
        </p:nvSpPr>
        <p:spPr>
          <a:xfrm>
            <a:off x="581025" y="2571750"/>
            <a:ext cx="6925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Ranah Digital</a:t>
            </a:r>
            <a:endParaRPr sz="1800"/>
          </a:p>
        </p:txBody>
      </p:sp>
      <p:sp>
        <p:nvSpPr>
          <p:cNvPr id="239" name="Google Shape;239;p26"/>
          <p:cNvSpPr txBox="1"/>
          <p:nvPr/>
        </p:nvSpPr>
        <p:spPr>
          <a:xfrm>
            <a:off x="581025" y="3124200"/>
            <a:ext cx="53721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Cybersecurity sangat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berfokus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pada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terjadi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"Ruang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Siber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mencakup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perlindungan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jaringan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aplikasi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perangkat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ancaman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luar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40" name="Google Shape;240;p26"/>
          <p:cNvSpPr txBox="1"/>
          <p:nvPr/>
        </p:nvSpPr>
        <p:spPr>
          <a:xfrm>
            <a:off x="581025" y="4618355"/>
            <a:ext cx="53721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adalah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garis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pertahanan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teknis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menangani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malware, ransomware, phishing,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serangan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siber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lainnya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memanfaatkan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koneksi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internet.</a:t>
            </a:r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/>
          <p:nvPr/>
        </p:nvSpPr>
        <p:spPr>
          <a:xfrm>
            <a:off x="581025" y="2305050"/>
            <a:ext cx="3486150" cy="3200400"/>
          </a:xfrm>
          <a:prstGeom prst="roundRect">
            <a:avLst>
              <a:gd name="adj" fmla="val 3571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4352925" y="2305050"/>
            <a:ext cx="3486150" cy="3200400"/>
          </a:xfrm>
          <a:prstGeom prst="roundRect">
            <a:avLst>
              <a:gd name="adj" fmla="val 3571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8124825" y="2305050"/>
            <a:ext cx="3486150" cy="3200400"/>
          </a:xfrm>
          <a:prstGeom prst="roundRect">
            <a:avLst>
              <a:gd name="adj" fmla="val 3571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274320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5962" y="27432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67862" y="274320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Diagram Irisan (Konsep)</a:t>
            </a:r>
            <a:endParaRPr/>
          </a:p>
        </p:txBody>
      </p:sp>
      <p:sp>
        <p:nvSpPr>
          <p:cNvPr id="253" name="Google Shape;253;p27"/>
          <p:cNvSpPr txBox="1"/>
          <p:nvPr/>
        </p:nvSpPr>
        <p:spPr>
          <a:xfrm>
            <a:off x="1223962" y="3505200"/>
            <a:ext cx="220027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InfoSec Saja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514350" y="4057650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Melindungi dokumen cetak rahasia di dalam brankas fisik perusahaan.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4608314" y="3505200"/>
            <a:ext cx="2975371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Irisan Keduanya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4286250" y="4057650"/>
            <a:ext cx="361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Melindungi database digital pelanggan dari akses yang tidak sah.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8905279" y="3505200"/>
            <a:ext cx="192524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Cyber Saja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8058150" y="4057650"/>
            <a:ext cx="3619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Melindungi server dari serangan DDoS yang mencoba membuat website lumpuh.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/>
          <p:nvPr/>
        </p:nvSpPr>
        <p:spPr>
          <a:xfrm>
            <a:off x="581025" y="3371850"/>
            <a:ext cx="232722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2908250" y="3371850"/>
            <a:ext cx="443165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7339905" y="3371850"/>
            <a:ext cx="4271069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581025" y="3943350"/>
            <a:ext cx="232722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2908250" y="3943350"/>
            <a:ext cx="443165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339905" y="3943350"/>
            <a:ext cx="4271069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581025" y="4514850"/>
            <a:ext cx="232722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2908250" y="4514850"/>
            <a:ext cx="443165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339905" y="4514850"/>
            <a:ext cx="4271069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581025" y="5086350"/>
            <a:ext cx="232722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2908250" y="5086350"/>
            <a:ext cx="4431655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7339905" y="5086350"/>
            <a:ext cx="4271069" cy="9525"/>
          </a:xfrm>
          <a:prstGeom prst="rect">
            <a:avLst/>
          </a:prstGeom>
          <a:solidFill>
            <a:srgbClr val="F1E4C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6" name="Google Shape;276;p28"/>
          <p:cNvGraphicFramePr/>
          <p:nvPr>
            <p:extLst>
              <p:ext uri="{D42A27DB-BD31-4B8C-83A1-F6EECF244321}">
                <p14:modId xmlns:p14="http://schemas.microsoft.com/office/powerpoint/2010/main" val="3933184832"/>
              </p:ext>
            </p:extLst>
          </p:nvPr>
        </p:nvGraphicFramePr>
        <p:xfrm>
          <a:off x="581025" y="2709862"/>
          <a:ext cx="11029950" cy="3284539"/>
        </p:xfrm>
        <a:graphic>
          <a:graphicData uri="http://schemas.openxmlformats.org/drawingml/2006/table">
            <a:tbl>
              <a:tblPr>
                <a:noFill/>
                <a:tableStyleId>{E8E0DE43-40B2-4231-A45D-DE027B97D821}</a:tableStyleId>
              </a:tblPr>
              <a:tblGrid>
                <a:gridCol w="232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921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 err="1">
                          <a:solidFill>
                            <a:srgbClr val="1E293B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Aspek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1E293B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Information</a:t>
                      </a:r>
                      <a:r>
                        <a:rPr lang="en-US" sz="1800" b="1" i="0" u="none" strike="noStrike" cap="none" dirty="0">
                          <a:solidFill>
                            <a:srgbClr val="1E293B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 Security (InfoSec)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1E293B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Cybersecurity</a:t>
                      </a:r>
                      <a:endParaRPr sz="16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58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Fokus Perlindungan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Informasi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dalam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segala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bentuk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(digital &amp;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fisik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Aset digital dan sistem di ruang siber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58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Sifat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Lebih strategis dan berpusat pada kebijakan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Lebih teknis dan berpusat pada pertahanan</a:t>
                      </a:r>
                      <a:endParaRPr sz="20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6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Area </a:t>
                      </a:r>
                      <a:r>
                        <a:rPr lang="en-US" sz="1800" b="1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Prioritas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Tata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kelola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Kepatuhan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Risiko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(GRC)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Jaringan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Aplikasi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Operasi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Keamanan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7" name="Google Shape;277;p28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Perbedaan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Utama: Ruang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Lingkup</a:t>
            </a:r>
            <a:endParaRPr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686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075" y="375106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885432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9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Perbedaan: Jenis Ancaman</a:t>
            </a:r>
            <a:endParaRPr sz="1800"/>
          </a:p>
        </p:txBody>
      </p:sp>
      <p:sp>
        <p:nvSpPr>
          <p:cNvPr id="287" name="Google Shape;287;p29"/>
          <p:cNvSpPr txBox="1"/>
          <p:nvPr/>
        </p:nvSpPr>
        <p:spPr>
          <a:xfrm>
            <a:off x="1057274" y="2542579"/>
            <a:ext cx="103219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Ancaman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InfoSec: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Pencurian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oleh orang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(insider threat),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kegagalan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prosedur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bencana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alam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merusak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arsip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288" name="Google Shape;288;p29"/>
          <p:cNvSpPr txBox="1"/>
          <p:nvPr/>
        </p:nvSpPr>
        <p:spPr>
          <a:xfrm>
            <a:off x="1057274" y="3603426"/>
            <a:ext cx="1065720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Ancaman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Cybersecurity: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Malware,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serangan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Phishing,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injeksi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SQL,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eksploitasi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kerentanan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perangkat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lunak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lunak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(Zero-day).</a:t>
            </a:r>
            <a:endParaRPr sz="1800" dirty="0"/>
          </a:p>
        </p:txBody>
      </p:sp>
      <p:sp>
        <p:nvSpPr>
          <p:cNvPr id="289" name="Google Shape;289;p29"/>
          <p:cNvSpPr txBox="1"/>
          <p:nvPr/>
        </p:nvSpPr>
        <p:spPr>
          <a:xfrm>
            <a:off x="1057274" y="4766745"/>
            <a:ext cx="105537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InfoSec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melihat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risiko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menyeluruh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sedangkan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Cybersecurity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bertarung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 garis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teknologi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9964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900" y="4071620"/>
            <a:ext cx="79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02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9850" y="2038350"/>
            <a:ext cx="515302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0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Perbedaan: Praktisi</a:t>
            </a:r>
            <a:endParaRPr sz="1800"/>
          </a:p>
        </p:txBody>
      </p:sp>
      <p:sp>
        <p:nvSpPr>
          <p:cNvPr id="300" name="Google Shape;300;p30"/>
          <p:cNvSpPr txBox="1"/>
          <p:nvPr/>
        </p:nvSpPr>
        <p:spPr>
          <a:xfrm>
            <a:off x="866775" y="2053590"/>
            <a:ext cx="503872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Profesional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InfoSec: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Fokus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pada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pembuatan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kebijakan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audit,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sertifikasi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(ISO 27001),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memastikan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prosedur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ditaati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oleh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semua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karyawan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01" name="Google Shape;301;p30"/>
          <p:cNvSpPr txBox="1"/>
          <p:nvPr/>
        </p:nvSpPr>
        <p:spPr>
          <a:xfrm>
            <a:off x="866775" y="3905250"/>
            <a:ext cx="50387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Profesional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Cybersecurity: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Fokus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pada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konfigurasi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firewall,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analisis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keamanan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penetration testing,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insiden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teknis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Keduanya Saling Melengkapi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712533" y="2290762"/>
            <a:ext cx="10766784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"Cybersecurity tanpa InfoSec bagaikan membangun dinding besi tanpa memiliki aturan siapa yang boleh memegang kuncinya."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4464694" y="5243512"/>
            <a:ext cx="326231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Keamanan Komprehensif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1217711" y="2671762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311" name="Google Shape;311;p31"/>
          <p:cNvSpPr txBox="1"/>
          <p:nvPr/>
        </p:nvSpPr>
        <p:spPr>
          <a:xfrm>
            <a:off x="10631240" y="4767262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2"/>
          <p:cNvSpPr/>
          <p:nvPr/>
        </p:nvSpPr>
        <p:spPr>
          <a:xfrm>
            <a:off x="5381625" y="2722215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3445668" y="3141315"/>
            <a:ext cx="530066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CIA Triad</a:t>
            </a:r>
            <a:endParaRPr/>
          </a:p>
        </p:txBody>
      </p:sp>
      <p:sp>
        <p:nvSpPr>
          <p:cNvPr id="319" name="Google Shape;319;p32"/>
          <p:cNvSpPr txBox="1"/>
          <p:nvPr/>
        </p:nvSpPr>
        <p:spPr>
          <a:xfrm>
            <a:off x="3750468" y="4150965"/>
            <a:ext cx="469106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Tiga Pilar Utama Keamanan Informasi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3"/>
          <p:cNvSpPr/>
          <p:nvPr/>
        </p:nvSpPr>
        <p:spPr>
          <a:xfrm>
            <a:off x="581025" y="2457450"/>
            <a:ext cx="348615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4352925" y="2457450"/>
            <a:ext cx="348615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8124825" y="2457450"/>
            <a:ext cx="348615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4062" y="28956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28956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9775" y="28956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3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Apa itu CIA Triad?</a:t>
            </a:r>
            <a:endParaRPr/>
          </a:p>
        </p:txBody>
      </p:sp>
      <p:sp>
        <p:nvSpPr>
          <p:cNvPr id="332" name="Google Shape;332;p33"/>
          <p:cNvSpPr txBox="1"/>
          <p:nvPr/>
        </p:nvSpPr>
        <p:spPr>
          <a:xfrm>
            <a:off x="961429" y="3657600"/>
            <a:ext cx="272534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Confidentiality</a:t>
            </a:r>
            <a:endParaRPr/>
          </a:p>
        </p:txBody>
      </p:sp>
      <p:sp>
        <p:nvSpPr>
          <p:cNvPr id="333" name="Google Shape;333;p33"/>
          <p:cNvSpPr txBox="1"/>
          <p:nvPr/>
        </p:nvSpPr>
        <p:spPr>
          <a:xfrm>
            <a:off x="901303" y="4210050"/>
            <a:ext cx="28455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Menjamin kerahasiaan data.</a:t>
            </a:r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5302150" y="3657600"/>
            <a:ext cx="1587698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Integrity</a:t>
            </a:r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4286250" y="4210050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Menjamin keutuhan dan keaslian data.</a:t>
            </a: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8836521" y="3657600"/>
            <a:ext cx="206275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Availability</a:t>
            </a:r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8058150" y="4210050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Menjamin data selalu tersedia saat dibutuhkan.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Pilar 1: Confidentiality</a:t>
            </a:r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-72628" y="3038475"/>
            <a:ext cx="6536531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-72628" y="4467225"/>
            <a:ext cx="65365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Kerahasiaan</a:t>
            </a:r>
            <a:endParaRPr/>
          </a:p>
        </p:txBody>
      </p:sp>
      <p:sp>
        <p:nvSpPr>
          <p:cNvPr id="346" name="Google Shape;346;p34"/>
          <p:cNvSpPr txBox="1"/>
          <p:nvPr/>
        </p:nvSpPr>
        <p:spPr>
          <a:xfrm>
            <a:off x="6381750" y="2947987"/>
            <a:ext cx="5810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Hanya untuk yang Berhak</a:t>
            </a:r>
            <a:endParaRPr/>
          </a:p>
        </p:txBody>
      </p:sp>
      <p:sp>
        <p:nvSpPr>
          <p:cNvPr id="347" name="Google Shape;347;p34"/>
          <p:cNvSpPr txBox="1"/>
          <p:nvPr/>
        </p:nvSpPr>
        <p:spPr>
          <a:xfrm>
            <a:off x="6381750" y="3500437"/>
            <a:ext cx="53244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Prinsip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memastikan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bahwa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sensitif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diungkapkan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kepada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pihak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memiliki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otorisasi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Data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harus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dijaga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pengintip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baik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disimpan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(data at rest)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maupun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dikirim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(data in transit).</a:t>
            </a:r>
            <a:endParaRPr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5960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32894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0618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Contoh Confidentiality</a:t>
            </a:r>
            <a:endParaRPr sz="1800"/>
          </a:p>
        </p:txBody>
      </p:sp>
      <p:sp>
        <p:nvSpPr>
          <p:cNvPr id="357" name="Google Shape;357;p35"/>
          <p:cNvSpPr txBox="1"/>
          <p:nvPr/>
        </p:nvSpPr>
        <p:spPr>
          <a:xfrm>
            <a:off x="1057275" y="3045321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Rekam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medis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pasien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hanya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boleh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dilihat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oleh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dokter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merawatnya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358" name="Google Shape;358;p35"/>
          <p:cNvSpPr txBox="1"/>
          <p:nvPr/>
        </p:nvSpPr>
        <p:spPr>
          <a:xfrm>
            <a:off x="1057275" y="3618607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PIN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kartu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kredit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Anda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disembunyikan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diketik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mesin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ATM.</a:t>
            </a:r>
            <a:endParaRPr sz="1800" dirty="0"/>
          </a:p>
        </p:txBody>
      </p:sp>
      <p:sp>
        <p:nvSpPr>
          <p:cNvPr id="359" name="Google Shape;359;p35"/>
          <p:cNvSpPr txBox="1"/>
          <p:nvPr/>
        </p:nvSpPr>
        <p:spPr>
          <a:xfrm>
            <a:off x="1057275" y="4191892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Email internal perusahaan tentang rencana merger tidak bocor ke publik.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00370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05" y="3751063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585" y="4300000"/>
            <a:ext cx="2095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Ancaman terhadap Confidentiality</a:t>
            </a:r>
            <a:endParaRPr sz="1800"/>
          </a:p>
        </p:txBody>
      </p:sp>
      <p:sp>
        <p:nvSpPr>
          <p:cNvPr id="369" name="Google Shape;369;p36"/>
          <p:cNvSpPr txBox="1"/>
          <p:nvPr/>
        </p:nvSpPr>
        <p:spPr>
          <a:xfrm>
            <a:off x="1057275" y="3045321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Data Breach: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Peretas mencuri jutaan data kredensial pengguna dari database.</a:t>
            </a:r>
            <a:endParaRPr sz="1800"/>
          </a:p>
        </p:txBody>
      </p:sp>
      <p:sp>
        <p:nvSpPr>
          <p:cNvPr id="370" name="Google Shape;370;p36"/>
          <p:cNvSpPr txBox="1"/>
          <p:nvPr/>
        </p:nvSpPr>
        <p:spPr>
          <a:xfrm>
            <a:off x="1057275" y="3618607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Man-in-the-Middle: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Seseorang menyadap komunikasi Wi-Fi publik.</a:t>
            </a:r>
            <a:endParaRPr sz="1800"/>
          </a:p>
        </p:txBody>
      </p:sp>
      <p:sp>
        <p:nvSpPr>
          <p:cNvPr id="371" name="Google Shape;371;p36"/>
          <p:cNvSpPr txBox="1"/>
          <p:nvPr/>
        </p:nvSpPr>
        <p:spPr>
          <a:xfrm>
            <a:off x="1057275" y="4191892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Shoulder Surfing: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Orang di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belakang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Anda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mengintip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password yang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sedang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Anda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ketik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7"/>
          <p:cNvSpPr/>
          <p:nvPr/>
        </p:nvSpPr>
        <p:spPr>
          <a:xfrm>
            <a:off x="581025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6381750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Kontrol Confidentiality</a:t>
            </a:r>
            <a:endParaRPr/>
          </a:p>
        </p:txBody>
      </p:sp>
      <p:sp>
        <p:nvSpPr>
          <p:cNvPr id="380" name="Google Shape;380;p37"/>
          <p:cNvSpPr txBox="1"/>
          <p:nvPr/>
        </p:nvSpPr>
        <p:spPr>
          <a:xfrm>
            <a:off x="276522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Enkripsi</a:t>
            </a:r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415528" y="36528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Mengubah data menjadi format rahasia menggunakan algoritma matematis (misal: AES) sehingga tidak bisa dibaca tanpa kunci dekripsi.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6077247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Kontrol Akses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6216253" y="36528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Menerapkan autentikasi (seperti MFA/Password) dan otorisasi ketat (Role-Based Access Control) untuk membatasi siapa yang bisa melihat data.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8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Pilar 2: Integrity</a:t>
            </a:r>
            <a:endParaRPr/>
          </a:p>
        </p:txBody>
      </p:sp>
      <p:sp>
        <p:nvSpPr>
          <p:cNvPr id="390" name="Google Shape;390;p38"/>
          <p:cNvSpPr txBox="1"/>
          <p:nvPr/>
        </p:nvSpPr>
        <p:spPr>
          <a:xfrm>
            <a:off x="-72628" y="3038475"/>
            <a:ext cx="6536531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</a:t>
            </a:r>
            <a:endParaRPr/>
          </a:p>
        </p:txBody>
      </p:sp>
      <p:sp>
        <p:nvSpPr>
          <p:cNvPr id="391" name="Google Shape;391;p38"/>
          <p:cNvSpPr txBox="1"/>
          <p:nvPr/>
        </p:nvSpPr>
        <p:spPr>
          <a:xfrm>
            <a:off x="-72628" y="4467225"/>
            <a:ext cx="65365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Integritas</a:t>
            </a:r>
            <a:endParaRPr/>
          </a:p>
        </p:txBody>
      </p:sp>
      <p:sp>
        <p:nvSpPr>
          <p:cNvPr id="392" name="Google Shape;392;p38"/>
          <p:cNvSpPr txBox="1"/>
          <p:nvPr/>
        </p:nvSpPr>
        <p:spPr>
          <a:xfrm>
            <a:off x="6381750" y="2947987"/>
            <a:ext cx="5810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Keutuhan Tak Tersentuh</a:t>
            </a:r>
            <a:endParaRPr/>
          </a:p>
        </p:txBody>
      </p:sp>
      <p:sp>
        <p:nvSpPr>
          <p:cNvPr id="393" name="Google Shape;393;p38"/>
          <p:cNvSpPr txBox="1"/>
          <p:nvPr/>
        </p:nvSpPr>
        <p:spPr>
          <a:xfrm>
            <a:off x="6381750" y="3500437"/>
            <a:ext cx="532447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Prinsip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memastikan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bahwa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akurat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lengkap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dimodifikasi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secara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Menjaga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agar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tetap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terpercaya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diubah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izin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baik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disengaja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maupun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712" y="3012163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25414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575691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9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Contoh Integrity</a:t>
            </a:r>
            <a:endParaRPr sz="1800"/>
          </a:p>
        </p:txBody>
      </p:sp>
      <p:sp>
        <p:nvSpPr>
          <p:cNvPr id="403" name="Google Shape;403;p39"/>
          <p:cNvSpPr txBox="1"/>
          <p:nvPr/>
        </p:nvSpPr>
        <p:spPr>
          <a:xfrm>
            <a:off x="1057275" y="2877740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Saldo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rekening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Anda di bank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berubah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tiba-tiba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adanya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transaksi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yang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sah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  <p:sp>
        <p:nvSpPr>
          <p:cNvPr id="404" name="Google Shape;404;p39"/>
          <p:cNvSpPr txBox="1"/>
          <p:nvPr/>
        </p:nvSpPr>
        <p:spPr>
          <a:xfrm>
            <a:off x="1057275" y="3451026"/>
            <a:ext cx="91440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File dokumen hukum yang dikirim via email diterima persis sama, tanpa tambahan atau pengurangan kalimat.</a:t>
            </a:r>
            <a:endParaRPr sz="1800"/>
          </a:p>
        </p:txBody>
      </p:sp>
      <p:sp>
        <p:nvSpPr>
          <p:cNvPr id="405" name="Google Shape;405;p39"/>
          <p:cNvSpPr txBox="1"/>
          <p:nvPr/>
        </p:nvSpPr>
        <p:spPr>
          <a:xfrm>
            <a:off x="1057275" y="4359473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Website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berita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menampilkan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artikel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asli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jurnalis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tanpa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disusupi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propaganda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peretas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59608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32894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06180"/>
            <a:ext cx="2095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0"/>
          <p:cNvSpPr txBox="1"/>
          <p:nvPr/>
        </p:nvSpPr>
        <p:spPr>
          <a:xfrm>
            <a:off x="581025" y="581025"/>
            <a:ext cx="116109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Ancaman terhadap Integrity</a:t>
            </a:r>
            <a:endParaRPr sz="1800"/>
          </a:p>
        </p:txBody>
      </p:sp>
      <p:sp>
        <p:nvSpPr>
          <p:cNvPr id="415" name="Google Shape;415;p40"/>
          <p:cNvSpPr txBox="1"/>
          <p:nvPr/>
        </p:nvSpPr>
        <p:spPr>
          <a:xfrm>
            <a:off x="1057275" y="3045321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Unauthorized Modification: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Karyawan iseng mengubah nilai gajinya di sistem database HR.</a:t>
            </a:r>
            <a:endParaRPr sz="1800"/>
          </a:p>
        </p:txBody>
      </p:sp>
      <p:sp>
        <p:nvSpPr>
          <p:cNvPr id="416" name="Google Shape;416;p40"/>
          <p:cNvSpPr txBox="1"/>
          <p:nvPr/>
        </p:nvSpPr>
        <p:spPr>
          <a:xfrm>
            <a:off x="1057275" y="3618607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Website Defacement:</a:t>
            </a: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Peretas mengubah tampilan halaman depan website pemerintah.</a:t>
            </a:r>
            <a:endParaRPr sz="1800"/>
          </a:p>
        </p:txBody>
      </p:sp>
      <p:sp>
        <p:nvSpPr>
          <p:cNvPr id="417" name="Google Shape;417;p40"/>
          <p:cNvSpPr txBox="1"/>
          <p:nvPr/>
        </p:nvSpPr>
        <p:spPr>
          <a:xfrm>
            <a:off x="1057275" y="4191892"/>
            <a:ext cx="111347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Malware: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Virus yang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menginfeksi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merusak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susunan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file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dokumen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penting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1"/>
          <p:cNvSpPr/>
          <p:nvPr/>
        </p:nvSpPr>
        <p:spPr>
          <a:xfrm>
            <a:off x="581025" y="2557462"/>
            <a:ext cx="5229225" cy="2695575"/>
          </a:xfrm>
          <a:prstGeom prst="roundRect">
            <a:avLst>
              <a:gd name="adj" fmla="val 424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1"/>
          <p:cNvSpPr/>
          <p:nvPr/>
        </p:nvSpPr>
        <p:spPr>
          <a:xfrm>
            <a:off x="6381750" y="2557462"/>
            <a:ext cx="5229225" cy="2695575"/>
          </a:xfrm>
          <a:prstGeom prst="roundRect">
            <a:avLst>
              <a:gd name="adj" fmla="val 424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Kontrol Integrity</a:t>
            </a:r>
            <a:endParaRPr/>
          </a:p>
        </p:txBody>
      </p:sp>
      <p:sp>
        <p:nvSpPr>
          <p:cNvPr id="426" name="Google Shape;426;p41"/>
          <p:cNvSpPr txBox="1"/>
          <p:nvPr/>
        </p:nvSpPr>
        <p:spPr>
          <a:xfrm>
            <a:off x="276522" y="29479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Hashing &amp; Checksum</a:t>
            </a:r>
            <a:endParaRPr/>
          </a:p>
        </p:txBody>
      </p:sp>
      <p:sp>
        <p:nvSpPr>
          <p:cNvPr id="427" name="Google Shape;427;p41"/>
          <p:cNvSpPr txBox="1"/>
          <p:nvPr/>
        </p:nvSpPr>
        <p:spPr>
          <a:xfrm>
            <a:off x="415528" y="3500437"/>
            <a:ext cx="5560218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Menggunakan fungsi hash kriptografi (seperti SHA-256) untuk menghasilkan "sidik jari digital" dari sebuah file guna mengecek apakah ada perubahan data.</a:t>
            </a:r>
            <a:endParaRPr/>
          </a:p>
        </p:txBody>
      </p:sp>
      <p:sp>
        <p:nvSpPr>
          <p:cNvPr id="428" name="Google Shape;428;p41"/>
          <p:cNvSpPr txBox="1"/>
          <p:nvPr/>
        </p:nvSpPr>
        <p:spPr>
          <a:xfrm>
            <a:off x="6077247" y="29479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Audit</a:t>
            </a:r>
            <a:endParaRPr/>
          </a:p>
        </p:txBody>
      </p:sp>
      <p:sp>
        <p:nvSpPr>
          <p:cNvPr id="429" name="Google Shape;429;p41"/>
          <p:cNvSpPr txBox="1"/>
          <p:nvPr/>
        </p:nvSpPr>
        <p:spPr>
          <a:xfrm>
            <a:off x="6216253" y="35004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Mencatat setiap perubahan yang dilakukan pada data (Siapa, Kapan, Apa yang diubah) untuk pelacakan dan akuntabilitas.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2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Pilar 3: Availability</a:t>
            </a:r>
            <a:endParaRPr/>
          </a:p>
        </p:txBody>
      </p:sp>
      <p:sp>
        <p:nvSpPr>
          <p:cNvPr id="436" name="Google Shape;436;p42"/>
          <p:cNvSpPr txBox="1"/>
          <p:nvPr/>
        </p:nvSpPr>
        <p:spPr>
          <a:xfrm>
            <a:off x="-72628" y="3038475"/>
            <a:ext cx="6536531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endParaRPr/>
          </a:p>
        </p:txBody>
      </p:sp>
      <p:sp>
        <p:nvSpPr>
          <p:cNvPr id="437" name="Google Shape;437;p42"/>
          <p:cNvSpPr txBox="1"/>
          <p:nvPr/>
        </p:nvSpPr>
        <p:spPr>
          <a:xfrm>
            <a:off x="-72628" y="4467225"/>
            <a:ext cx="653653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Ketersediaan</a:t>
            </a:r>
            <a:endParaRPr/>
          </a:p>
        </p:txBody>
      </p:sp>
      <p:sp>
        <p:nvSpPr>
          <p:cNvPr id="438" name="Google Shape;438;p42"/>
          <p:cNvSpPr txBox="1"/>
          <p:nvPr/>
        </p:nvSpPr>
        <p:spPr>
          <a:xfrm>
            <a:off x="6381750" y="3100387"/>
            <a:ext cx="5810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Selalu Siap Digunakan</a:t>
            </a:r>
            <a:endParaRPr/>
          </a:p>
        </p:txBody>
      </p:sp>
      <p:sp>
        <p:nvSpPr>
          <p:cNvPr id="439" name="Google Shape;439;p42"/>
          <p:cNvSpPr txBox="1"/>
          <p:nvPr/>
        </p:nvSpPr>
        <p:spPr>
          <a:xfrm>
            <a:off x="6381750" y="3652837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Prinsip ini menjamin bahwa sistem, aplikasi, dan data selalu dapat diakses secara tepat waktu dan andal oleh pengguna yang memiliki otorisasi saat mereka membutuhkannya.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5960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32894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0618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3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Contoh Availability</a:t>
            </a:r>
            <a:endParaRPr/>
          </a:p>
        </p:txBody>
      </p:sp>
      <p:sp>
        <p:nvSpPr>
          <p:cNvPr id="449" name="Google Shape;449;p43"/>
          <p:cNvSpPr txBox="1"/>
          <p:nvPr/>
        </p:nvSpPr>
        <p:spPr>
          <a:xfrm>
            <a:off x="1057275" y="3045321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Layanan e-banking yang dapat diakses 24/7 tanpa henti.</a:t>
            </a:r>
            <a:endParaRPr/>
          </a:p>
        </p:txBody>
      </p:sp>
      <p:sp>
        <p:nvSpPr>
          <p:cNvPr id="450" name="Google Shape;450;p43"/>
          <p:cNvSpPr txBox="1"/>
          <p:nvPr/>
        </p:nvSpPr>
        <p:spPr>
          <a:xfrm>
            <a:off x="1057275" y="3618607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 kasir (POS) di supermarket yang selalu responsif saat antrean pelanggan panjang.</a:t>
            </a:r>
            <a:endParaRPr/>
          </a:p>
        </p:txBody>
      </p:sp>
      <p:sp>
        <p:nvSpPr>
          <p:cNvPr id="451" name="Google Shape;451;p43"/>
          <p:cNvSpPr txBox="1"/>
          <p:nvPr/>
        </p:nvSpPr>
        <p:spPr>
          <a:xfrm>
            <a:off x="1057275" y="4191892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Akses lancar ke database cloud perusahaan saat karyawan Work From Home.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92028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65314"/>
            <a:ext cx="2095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73760"/>
            <a:ext cx="2095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4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Ancaman terhadap Availability</a:t>
            </a:r>
            <a:endParaRPr/>
          </a:p>
        </p:txBody>
      </p:sp>
      <p:sp>
        <p:nvSpPr>
          <p:cNvPr id="461" name="Google Shape;461;p44"/>
          <p:cNvSpPr txBox="1"/>
          <p:nvPr/>
        </p:nvSpPr>
        <p:spPr>
          <a:xfrm>
            <a:off x="1057275" y="2877740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DDoS Attacks: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Penyerang membanjiri server dengan lalu lintas palsu hingga server lumpuh (down).</a:t>
            </a:r>
            <a:endParaRPr/>
          </a:p>
        </p:txBody>
      </p:sp>
      <p:sp>
        <p:nvSpPr>
          <p:cNvPr id="462" name="Google Shape;462;p44"/>
          <p:cNvSpPr txBox="1"/>
          <p:nvPr/>
        </p:nvSpPr>
        <p:spPr>
          <a:xfrm>
            <a:off x="1057275" y="3451026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Ransomware: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dienkripsi paksa oleh peretas sehingga tidak bisa diakses sampai tebusan dibayar.</a:t>
            </a:r>
            <a:endParaRPr/>
          </a:p>
        </p:txBody>
      </p:sp>
      <p:sp>
        <p:nvSpPr>
          <p:cNvPr id="463" name="Google Shape;463;p44"/>
          <p:cNvSpPr txBox="1"/>
          <p:nvPr/>
        </p:nvSpPr>
        <p:spPr>
          <a:xfrm>
            <a:off x="1057275" y="4359473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Bencana Alam &amp; Pemadaman Listrik: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Faktor non-siber yang menghentikan operasional pusat data.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5"/>
          <p:cNvSpPr/>
          <p:nvPr/>
        </p:nvSpPr>
        <p:spPr>
          <a:xfrm>
            <a:off x="581025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5"/>
          <p:cNvSpPr/>
          <p:nvPr/>
        </p:nvSpPr>
        <p:spPr>
          <a:xfrm>
            <a:off x="6381750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5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Kontrol Availability</a:t>
            </a:r>
            <a:endParaRPr/>
          </a:p>
        </p:txBody>
      </p:sp>
      <p:sp>
        <p:nvSpPr>
          <p:cNvPr id="472" name="Google Shape;472;p45"/>
          <p:cNvSpPr txBox="1"/>
          <p:nvPr/>
        </p:nvSpPr>
        <p:spPr>
          <a:xfrm>
            <a:off x="276522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Redundansi (High Availability)</a:t>
            </a:r>
            <a:endParaRPr/>
          </a:p>
        </p:txBody>
      </p:sp>
      <p:sp>
        <p:nvSpPr>
          <p:cNvPr id="473" name="Google Shape;473;p45"/>
          <p:cNvSpPr txBox="1"/>
          <p:nvPr/>
        </p:nvSpPr>
        <p:spPr>
          <a:xfrm>
            <a:off x="415528" y="36528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Memiliki server cadangan, jaringan listrik berlapis (UPS/Genset), dan load balancer untuk menghindari Single Point of Failure.</a:t>
            </a:r>
            <a:endParaRPr/>
          </a:p>
        </p:txBody>
      </p:sp>
      <p:sp>
        <p:nvSpPr>
          <p:cNvPr id="474" name="Google Shape;474;p45"/>
          <p:cNvSpPr txBox="1"/>
          <p:nvPr/>
        </p:nvSpPr>
        <p:spPr>
          <a:xfrm>
            <a:off x="6077247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Backup &amp; DRP</a:t>
            </a:r>
            <a:endParaRPr/>
          </a:p>
        </p:txBody>
      </p:sp>
      <p:sp>
        <p:nvSpPr>
          <p:cNvPr id="475" name="Google Shape;475;p45"/>
          <p:cNvSpPr txBox="1"/>
          <p:nvPr/>
        </p:nvSpPr>
        <p:spPr>
          <a:xfrm>
            <a:off x="6216253" y="36528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Melakukan pencadangan data secara berkala dan memiliki Disaster Recovery Plan (DRP) untuk pemulihan sistem secara cepat paska-insiden.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6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Keseimbangan Triad</a:t>
            </a:r>
            <a:endParaRPr/>
          </a:p>
        </p:txBody>
      </p:sp>
      <p:sp>
        <p:nvSpPr>
          <p:cNvPr id="482" name="Google Shape;482;p46"/>
          <p:cNvSpPr txBox="1"/>
          <p:nvPr/>
        </p:nvSpPr>
        <p:spPr>
          <a:xfrm>
            <a:off x="712533" y="2290762"/>
            <a:ext cx="10766784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"Keamanan sejati bukan tentang mengunci data 100% sehingga tidak bisa dipakai, melainkan menyeimbangkan C, I, dan A sesuai kebutuhan bisnis."</a:t>
            </a:r>
            <a:endParaRPr/>
          </a:p>
        </p:txBody>
      </p:sp>
      <p:sp>
        <p:nvSpPr>
          <p:cNvPr id="483" name="Google Shape;483;p46"/>
          <p:cNvSpPr txBox="1"/>
          <p:nvPr/>
        </p:nvSpPr>
        <p:spPr>
          <a:xfrm>
            <a:off x="4423023" y="5243512"/>
            <a:ext cx="33456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Prinsip Manajemen Risiko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1217711" y="2671762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485" name="Google Shape;485;p46"/>
          <p:cNvSpPr txBox="1"/>
          <p:nvPr/>
        </p:nvSpPr>
        <p:spPr>
          <a:xfrm>
            <a:off x="10631240" y="4767262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7"/>
          <p:cNvSpPr/>
          <p:nvPr/>
        </p:nvSpPr>
        <p:spPr>
          <a:xfrm>
            <a:off x="5381625" y="2722215"/>
            <a:ext cx="142875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7"/>
          <p:cNvSpPr txBox="1"/>
          <p:nvPr/>
        </p:nvSpPr>
        <p:spPr>
          <a:xfrm>
            <a:off x="169664" y="3141315"/>
            <a:ext cx="11852671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Elemen Pembentuk Ruang Siber</a:t>
            </a:r>
            <a:endParaRPr/>
          </a:p>
        </p:txBody>
      </p:sp>
      <p:sp>
        <p:nvSpPr>
          <p:cNvPr id="493" name="Google Shape;493;p47"/>
          <p:cNvSpPr txBox="1"/>
          <p:nvPr/>
        </p:nvSpPr>
        <p:spPr>
          <a:xfrm>
            <a:off x="3143250" y="4150965"/>
            <a:ext cx="5905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Mengenal Anatomi Medan Pertempuran Digital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17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3718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767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02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8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Apa itu Cyberspace?</a:t>
            </a:r>
            <a:endParaRPr/>
          </a:p>
        </p:txBody>
      </p:sp>
      <p:sp>
        <p:nvSpPr>
          <p:cNvPr id="504" name="Google Shape;504;p48"/>
          <p:cNvSpPr txBox="1"/>
          <p:nvPr/>
        </p:nvSpPr>
        <p:spPr>
          <a:xfrm>
            <a:off x="866775" y="25527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Ruang siber (Cyberspace) adalah lingkungan domain global dalam jaringan teknologi informasi.</a:t>
            </a:r>
            <a:endParaRPr/>
          </a:p>
        </p:txBody>
      </p:sp>
      <p:sp>
        <p:nvSpPr>
          <p:cNvPr id="505" name="Google Shape;505;p48"/>
          <p:cNvSpPr txBox="1"/>
          <p:nvPr/>
        </p:nvSpPr>
        <p:spPr>
          <a:xfrm>
            <a:off x="866775" y="33528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Termasuk di dalamnya jaringan internet, sistem telekomunikasi, sistem komputer, serta proses tertanam (embedded) dan kontrol (IoT).</a:t>
            </a:r>
            <a:endParaRPr/>
          </a:p>
        </p:txBody>
      </p:sp>
      <p:sp>
        <p:nvSpPr>
          <p:cNvPr id="506" name="Google Shape;506;p48"/>
          <p:cNvSpPr txBox="1"/>
          <p:nvPr/>
        </p:nvSpPr>
        <p:spPr>
          <a:xfrm>
            <a:off x="866775" y="44577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 bukan sekadar "awan" (cloud) gaib, melainkan entitas yang memiliki wujud fisik, logika jaringan, dan aktor manusia.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9"/>
          <p:cNvSpPr/>
          <p:nvPr/>
        </p:nvSpPr>
        <p:spPr>
          <a:xfrm>
            <a:off x="581025" y="2457450"/>
            <a:ext cx="348615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9"/>
          <p:cNvSpPr/>
          <p:nvPr/>
        </p:nvSpPr>
        <p:spPr>
          <a:xfrm>
            <a:off x="4352925" y="2457450"/>
            <a:ext cx="348615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9"/>
          <p:cNvSpPr/>
          <p:nvPr/>
        </p:nvSpPr>
        <p:spPr>
          <a:xfrm>
            <a:off x="8124825" y="2457450"/>
            <a:ext cx="348615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5" name="Google Shape;515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85975" y="28956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86450" y="28956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67862" y="289560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9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 Lapisan Ruang Siber</a:t>
            </a:r>
            <a:endParaRPr/>
          </a:p>
        </p:txBody>
      </p:sp>
      <p:sp>
        <p:nvSpPr>
          <p:cNvPr id="519" name="Google Shape;519;p49"/>
          <p:cNvSpPr txBox="1"/>
          <p:nvPr/>
        </p:nvSpPr>
        <p:spPr>
          <a:xfrm>
            <a:off x="1111448" y="3657600"/>
            <a:ext cx="242530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Lapisan Fisik</a:t>
            </a:r>
            <a:endParaRPr/>
          </a:p>
        </p:txBody>
      </p:sp>
      <p:sp>
        <p:nvSpPr>
          <p:cNvPr id="520" name="Google Shape;520;p49"/>
          <p:cNvSpPr txBox="1"/>
          <p:nvPr/>
        </p:nvSpPr>
        <p:spPr>
          <a:xfrm>
            <a:off x="514350" y="4210050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Infrastruktur nyata yang menopang jaringan digital.</a:t>
            </a:r>
            <a:endParaRPr/>
          </a:p>
        </p:txBody>
      </p:sp>
      <p:sp>
        <p:nvSpPr>
          <p:cNvPr id="521" name="Google Shape;521;p49"/>
          <p:cNvSpPr txBox="1"/>
          <p:nvPr/>
        </p:nvSpPr>
        <p:spPr>
          <a:xfrm>
            <a:off x="4720828" y="3657600"/>
            <a:ext cx="275034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Lapisan Logika</a:t>
            </a:r>
            <a:endParaRPr/>
          </a:p>
        </p:txBody>
      </p:sp>
      <p:sp>
        <p:nvSpPr>
          <p:cNvPr id="522" name="Google Shape;522;p49"/>
          <p:cNvSpPr txBox="1"/>
          <p:nvPr/>
        </p:nvSpPr>
        <p:spPr>
          <a:xfrm>
            <a:off x="4286250" y="4210050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Perangkat lunak dan protokol yang mengatur aliran data.</a:t>
            </a:r>
            <a:endParaRPr/>
          </a:p>
        </p:txBody>
      </p:sp>
      <p:sp>
        <p:nvSpPr>
          <p:cNvPr id="523" name="Google Shape;523;p49"/>
          <p:cNvSpPr txBox="1"/>
          <p:nvPr/>
        </p:nvSpPr>
        <p:spPr>
          <a:xfrm>
            <a:off x="8361461" y="3657600"/>
            <a:ext cx="3012876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Lapisan Persona</a:t>
            </a:r>
            <a:endParaRPr/>
          </a:p>
        </p:txBody>
      </p:sp>
      <p:sp>
        <p:nvSpPr>
          <p:cNvPr id="524" name="Google Shape;524;p49"/>
          <p:cNvSpPr txBox="1"/>
          <p:nvPr/>
        </p:nvSpPr>
        <p:spPr>
          <a:xfrm>
            <a:off x="8058150" y="4210050"/>
            <a:ext cx="3619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Identitas pengguna dan aktor di balik layar.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17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6766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7675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02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5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19850" y="2038350"/>
            <a:ext cx="515302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50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Lapisan Fisik (Physical Layer)</a:t>
            </a:r>
            <a:endParaRPr/>
          </a:p>
        </p:txBody>
      </p:sp>
      <p:sp>
        <p:nvSpPr>
          <p:cNvPr id="536" name="Google Shape;536;p50"/>
          <p:cNvSpPr txBox="1"/>
          <p:nvPr/>
        </p:nvSpPr>
        <p:spPr>
          <a:xfrm>
            <a:off x="866775" y="2552700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Definisi: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Komponen keras (hardware) dan infrastruktur geografis penyusun jaringan. Tanpa ini, ruang siber tidak akan eksis.</a:t>
            </a:r>
            <a:endParaRPr/>
          </a:p>
        </p:txBody>
      </p:sp>
      <p:sp>
        <p:nvSpPr>
          <p:cNvPr id="537" name="Google Shape;537;p50"/>
          <p:cNvSpPr txBox="1"/>
          <p:nvPr/>
        </p:nvSpPr>
        <p:spPr>
          <a:xfrm>
            <a:off x="866775" y="36576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Contoh: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Kabel fiber optik bawah laut, menara seluler BTS, router keras, laptop, smartphone, dan gedung Data Center.</a:t>
            </a:r>
            <a:endParaRPr/>
          </a:p>
        </p:txBody>
      </p:sp>
      <p:sp>
        <p:nvSpPr>
          <p:cNvPr id="538" name="Google Shape;538;p50"/>
          <p:cNvSpPr txBox="1"/>
          <p:nvPr/>
        </p:nvSpPr>
        <p:spPr>
          <a:xfrm>
            <a:off x="866775" y="44577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Ancaman: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Pencurian perangkat, sabotase kabel, kebakaran gedung, penyadapan kabel fisik (wiretapping).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1"/>
          <p:cNvSpPr/>
          <p:nvPr/>
        </p:nvSpPr>
        <p:spPr>
          <a:xfrm>
            <a:off x="581025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1"/>
          <p:cNvSpPr/>
          <p:nvPr/>
        </p:nvSpPr>
        <p:spPr>
          <a:xfrm>
            <a:off x="6381750" y="2709862"/>
            <a:ext cx="5229225" cy="2390775"/>
          </a:xfrm>
          <a:prstGeom prst="roundRect">
            <a:avLst>
              <a:gd name="adj" fmla="val 4780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1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Lapisan Logika (Logical Layer)</a:t>
            </a:r>
            <a:endParaRPr/>
          </a:p>
        </p:txBody>
      </p:sp>
      <p:sp>
        <p:nvSpPr>
          <p:cNvPr id="547" name="Google Shape;547;p51"/>
          <p:cNvSpPr txBox="1"/>
          <p:nvPr/>
        </p:nvSpPr>
        <p:spPr>
          <a:xfrm>
            <a:off x="276522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Infrastruktur Abstrak</a:t>
            </a:r>
            <a:endParaRPr/>
          </a:p>
        </p:txBody>
      </p:sp>
      <p:sp>
        <p:nvSpPr>
          <p:cNvPr id="548" name="Google Shape;548;p51"/>
          <p:cNvSpPr txBox="1"/>
          <p:nvPr/>
        </p:nvSpPr>
        <p:spPr>
          <a:xfrm>
            <a:off x="415528" y="36528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Bagaimana jaringan fisik dipetakan ke entitas virtual. Lapisan ini terdiri dari kode, program, OS, dan protokol internet (TCP/IP).</a:t>
            </a:r>
            <a:endParaRPr/>
          </a:p>
        </p:txBody>
      </p:sp>
      <p:sp>
        <p:nvSpPr>
          <p:cNvPr id="549" name="Google Shape;549;p51"/>
          <p:cNvSpPr txBox="1"/>
          <p:nvPr/>
        </p:nvSpPr>
        <p:spPr>
          <a:xfrm>
            <a:off x="6077247" y="31003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Pengalamatan</a:t>
            </a:r>
            <a:endParaRPr/>
          </a:p>
        </p:txBody>
      </p:sp>
      <p:sp>
        <p:nvSpPr>
          <p:cNvPr id="550" name="Google Shape;550;p51"/>
          <p:cNvSpPr txBox="1"/>
          <p:nvPr/>
        </p:nvSpPr>
        <p:spPr>
          <a:xfrm>
            <a:off x="6216253" y="3652837"/>
            <a:ext cx="55602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Mencakup alamat IP, Domain Name System (DNS), dan rutinitas software. Ancaman di sini mencakup malware, virus, dan serangan injeksi.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2"/>
          <p:cNvSpPr txBox="1"/>
          <p:nvPr/>
        </p:nvSpPr>
        <p:spPr>
          <a:xfrm>
            <a:off x="581025" y="581025"/>
            <a:ext cx="564070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Lapisan Persona (Cyber-Persona)</a:t>
            </a:r>
            <a:endParaRPr/>
          </a:p>
        </p:txBody>
      </p:sp>
      <p:sp>
        <p:nvSpPr>
          <p:cNvPr id="558" name="Google Shape;558;p52"/>
          <p:cNvSpPr txBox="1"/>
          <p:nvPr/>
        </p:nvSpPr>
        <p:spPr>
          <a:xfrm>
            <a:off x="581025" y="2857500"/>
            <a:ext cx="692586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Aktor &amp; Identitas</a:t>
            </a:r>
            <a:endParaRPr/>
          </a:p>
        </p:txBody>
      </p:sp>
      <p:sp>
        <p:nvSpPr>
          <p:cNvPr id="559" name="Google Shape;559;p52"/>
          <p:cNvSpPr txBox="1"/>
          <p:nvPr/>
        </p:nvSpPr>
        <p:spPr>
          <a:xfrm>
            <a:off x="581025" y="3409950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Mewakili representasi abstrak individu atau kelompok dalam ruang siber. Ini bukan manusia fisiknya, melainkan "identitas digital" mereka.</a:t>
            </a:r>
            <a:endParaRPr/>
          </a:p>
        </p:txBody>
      </p:sp>
      <p:sp>
        <p:nvSpPr>
          <p:cNvPr id="560" name="Google Shape;560;p52"/>
          <p:cNvSpPr txBox="1"/>
          <p:nvPr/>
        </p:nvSpPr>
        <p:spPr>
          <a:xfrm>
            <a:off x="581025" y="4467225"/>
            <a:ext cx="5372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Satu manusia bisa memiliki banyak persona (email, akun medsos), dan satu persona (misal akun admin) bisa digunakan oleh banyak manusia.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9202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653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3860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3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Ancaman di Lapisan Persona</a:t>
            </a:r>
            <a:endParaRPr/>
          </a:p>
        </p:txBody>
      </p:sp>
      <p:sp>
        <p:nvSpPr>
          <p:cNvPr id="570" name="Google Shape;570;p53"/>
          <p:cNvSpPr txBox="1"/>
          <p:nvPr/>
        </p:nvSpPr>
        <p:spPr>
          <a:xfrm>
            <a:off x="1057275" y="2877740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Pencurian Identitas: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Mengambil alih persona digital seseorang (Hack akun).</a:t>
            </a:r>
            <a:endParaRPr/>
          </a:p>
        </p:txBody>
      </p:sp>
      <p:sp>
        <p:nvSpPr>
          <p:cNvPr id="571" name="Google Shape;571;p53"/>
          <p:cNvSpPr txBox="1"/>
          <p:nvPr/>
        </p:nvSpPr>
        <p:spPr>
          <a:xfrm>
            <a:off x="1057275" y="3451026"/>
            <a:ext cx="11134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Social Engineering: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Memanipulasi lapisan manusia untuk menyerahkan password.</a:t>
            </a:r>
            <a:endParaRPr/>
          </a:p>
        </p:txBody>
      </p:sp>
      <p:sp>
        <p:nvSpPr>
          <p:cNvPr id="572" name="Google Shape;572;p53"/>
          <p:cNvSpPr txBox="1"/>
          <p:nvPr/>
        </p:nvSpPr>
        <p:spPr>
          <a:xfrm>
            <a:off x="1057275" y="4024312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Kelemahan terbesar dalam seluruh sistem cybersecurity biasanya terletak pada lapisan persona (kelalaian manusia).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54"/>
          <p:cNvSpPr/>
          <p:nvPr/>
        </p:nvSpPr>
        <p:spPr>
          <a:xfrm>
            <a:off x="581025" y="2457450"/>
            <a:ext cx="537210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54"/>
          <p:cNvSpPr/>
          <p:nvPr/>
        </p:nvSpPr>
        <p:spPr>
          <a:xfrm>
            <a:off x="6238875" y="2457450"/>
            <a:ext cx="5372100" cy="2895600"/>
          </a:xfrm>
          <a:prstGeom prst="roundRect">
            <a:avLst>
              <a:gd name="adj" fmla="val 3947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0" name="Google Shape;580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7037" y="28956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86800" y="28956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4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Interaksi Tiga Lapisan</a:t>
            </a:r>
            <a:endParaRPr/>
          </a:p>
        </p:txBody>
      </p:sp>
      <p:sp>
        <p:nvSpPr>
          <p:cNvPr id="583" name="Google Shape;583;p54"/>
          <p:cNvSpPr txBox="1"/>
          <p:nvPr/>
        </p:nvSpPr>
        <p:spPr>
          <a:xfrm>
            <a:off x="1041796" y="3657600"/>
            <a:ext cx="4450556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Serangan Lintas Lapisan</a:t>
            </a:r>
            <a:endParaRPr/>
          </a:p>
        </p:txBody>
      </p:sp>
      <p:sp>
        <p:nvSpPr>
          <p:cNvPr id="584" name="Google Shape;584;p54"/>
          <p:cNvSpPr txBox="1"/>
          <p:nvPr/>
        </p:nvSpPr>
        <p:spPr>
          <a:xfrm>
            <a:off x="278606" y="4210050"/>
            <a:ext cx="59769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Serangan Logika (Malware) dapat merusak komponen Fisik (mesin pabrik/IoT).</a:t>
            </a:r>
            <a:endParaRPr/>
          </a:p>
        </p:txBody>
      </p:sp>
      <p:sp>
        <p:nvSpPr>
          <p:cNvPr id="585" name="Google Shape;585;p54"/>
          <p:cNvSpPr txBox="1"/>
          <p:nvPr/>
        </p:nvSpPr>
        <p:spPr>
          <a:xfrm>
            <a:off x="7074693" y="3657600"/>
            <a:ext cx="370046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Pertahanan Berlapis</a:t>
            </a:r>
            <a:endParaRPr/>
          </a:p>
        </p:txBody>
      </p:sp>
      <p:sp>
        <p:nvSpPr>
          <p:cNvPr id="586" name="Google Shape;586;p54"/>
          <p:cNvSpPr txBox="1"/>
          <p:nvPr/>
        </p:nvSpPr>
        <p:spPr>
          <a:xfrm>
            <a:off x="5936456" y="4210050"/>
            <a:ext cx="597693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Keamanan harus diimplementasikan pada sisi hardware, software, dan pelatihan SDM.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5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Kesimpulan</a:t>
            </a:r>
            <a:endParaRPr/>
          </a:p>
        </p:txBody>
      </p:sp>
      <p:sp>
        <p:nvSpPr>
          <p:cNvPr id="593" name="Google Shape;593;p55"/>
          <p:cNvSpPr txBox="1"/>
          <p:nvPr/>
        </p:nvSpPr>
        <p:spPr>
          <a:xfrm>
            <a:off x="712533" y="2290762"/>
            <a:ext cx="10766784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"Keamanan Siber bukan sekadar masalah IT, melainkan strategi pelestarian nilai bisnis di atas fondasi CIA Triad melintasi batas fisik dan digital."</a:t>
            </a:r>
            <a:endParaRPr/>
          </a:p>
        </p:txBody>
      </p:sp>
      <p:sp>
        <p:nvSpPr>
          <p:cNvPr id="594" name="Google Shape;594;p55"/>
          <p:cNvSpPr txBox="1"/>
          <p:nvPr/>
        </p:nvSpPr>
        <p:spPr>
          <a:xfrm>
            <a:off x="4625429" y="5243512"/>
            <a:ext cx="29408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Cybersecurity Mindset</a:t>
            </a:r>
            <a:endParaRPr/>
          </a:p>
        </p:txBody>
      </p:sp>
      <p:sp>
        <p:nvSpPr>
          <p:cNvPr id="595" name="Google Shape;595;p55"/>
          <p:cNvSpPr txBox="1"/>
          <p:nvPr/>
        </p:nvSpPr>
        <p:spPr>
          <a:xfrm>
            <a:off x="1217711" y="2671762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596" name="Google Shape;596;p55"/>
          <p:cNvSpPr txBox="1"/>
          <p:nvPr/>
        </p:nvSpPr>
        <p:spPr>
          <a:xfrm>
            <a:off x="10631240" y="4767262"/>
            <a:ext cx="3429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1E4C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56"/>
          <p:cNvSpPr/>
          <p:nvPr/>
        </p:nvSpPr>
        <p:spPr>
          <a:xfrm>
            <a:off x="581025" y="2862262"/>
            <a:ext cx="5229225" cy="2085975"/>
          </a:xfrm>
          <a:prstGeom prst="roundRect">
            <a:avLst>
              <a:gd name="adj" fmla="val 5479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6"/>
          <p:cNvSpPr/>
          <p:nvPr/>
        </p:nvSpPr>
        <p:spPr>
          <a:xfrm>
            <a:off x="6381750" y="2862262"/>
            <a:ext cx="5229225" cy="2085975"/>
          </a:xfrm>
          <a:prstGeom prst="roundRect">
            <a:avLst>
              <a:gd name="adj" fmla="val 5479"/>
            </a:avLst>
          </a:prstGeom>
          <a:solidFill>
            <a:srgbClr val="FDFBF7"/>
          </a:solidFill>
          <a:ln w="9525" cap="flat" cmpd="sng">
            <a:solidFill>
              <a:srgbClr val="F1E4C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56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Ringkasan Materi</a:t>
            </a:r>
            <a:endParaRPr/>
          </a:p>
        </p:txBody>
      </p:sp>
      <p:sp>
        <p:nvSpPr>
          <p:cNvPr id="605" name="Google Shape;605;p56"/>
          <p:cNvSpPr txBox="1"/>
          <p:nvPr/>
        </p:nvSpPr>
        <p:spPr>
          <a:xfrm>
            <a:off x="276522" y="32527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InfoSec &amp; CIA</a:t>
            </a:r>
            <a:endParaRPr/>
          </a:p>
        </p:txBody>
      </p:sp>
      <p:sp>
        <p:nvSpPr>
          <p:cNvPr id="606" name="Google Shape;606;p56"/>
          <p:cNvSpPr txBox="1"/>
          <p:nvPr/>
        </p:nvSpPr>
        <p:spPr>
          <a:xfrm>
            <a:off x="415528" y="3805237"/>
            <a:ext cx="556021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InfoSec melindungi data secara holistik bersandar pada kerahasiaan, integritas, dan ketersediaan data.</a:t>
            </a:r>
            <a:endParaRPr/>
          </a:p>
        </p:txBody>
      </p:sp>
      <p:sp>
        <p:nvSpPr>
          <p:cNvPr id="607" name="Google Shape;607;p56"/>
          <p:cNvSpPr txBox="1"/>
          <p:nvPr/>
        </p:nvSpPr>
        <p:spPr>
          <a:xfrm>
            <a:off x="6077247" y="3252787"/>
            <a:ext cx="5838229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Cybersecurity &amp; Cyberspace</a:t>
            </a:r>
            <a:endParaRPr/>
          </a:p>
        </p:txBody>
      </p:sp>
      <p:sp>
        <p:nvSpPr>
          <p:cNvPr id="608" name="Google Shape;608;p56"/>
          <p:cNvSpPr txBox="1"/>
          <p:nvPr/>
        </p:nvSpPr>
        <p:spPr>
          <a:xfrm>
            <a:off x="6216253" y="3805237"/>
            <a:ext cx="556021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Cybersecurity bertugas mengamankan lapisan fisik, logika, dan persona di dalam ekosistem ruang siber.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57"/>
          <p:cNvSpPr txBox="1"/>
          <p:nvPr/>
        </p:nvSpPr>
        <p:spPr>
          <a:xfrm>
            <a:off x="-398859" y="2182117"/>
            <a:ext cx="1298971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Sesi Tanya Jawab</a:t>
            </a:r>
            <a:endParaRPr/>
          </a:p>
        </p:txBody>
      </p:sp>
      <p:sp>
        <p:nvSpPr>
          <p:cNvPr id="615" name="Google Shape;615;p57"/>
          <p:cNvSpPr txBox="1"/>
          <p:nvPr/>
        </p:nvSpPr>
        <p:spPr>
          <a:xfrm>
            <a:off x="-398859" y="3515617"/>
            <a:ext cx="12989718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 yang ingin didiskusikan?</a:t>
            </a:r>
            <a:endParaRPr/>
          </a:p>
        </p:txBody>
      </p:sp>
      <p:sp>
        <p:nvSpPr>
          <p:cNvPr id="616" name="Google Shape;616;p57"/>
          <p:cNvSpPr txBox="1"/>
          <p:nvPr/>
        </p:nvSpPr>
        <p:spPr>
          <a:xfrm>
            <a:off x="-398859" y="4418558"/>
            <a:ext cx="1298971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Mata Kuliah Keamanan Data dan Informasi (2 SKS)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8"/>
          <p:cNvSpPr/>
          <p:nvPr/>
        </p:nvSpPr>
        <p:spPr>
          <a:xfrm>
            <a:off x="581025" y="135761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8"/>
          <p:cNvSpPr/>
          <p:nvPr/>
        </p:nvSpPr>
        <p:spPr>
          <a:xfrm>
            <a:off x="581025" y="214238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8"/>
          <p:cNvSpPr/>
          <p:nvPr/>
        </p:nvSpPr>
        <p:spPr>
          <a:xfrm>
            <a:off x="581025" y="292715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8"/>
          <p:cNvSpPr/>
          <p:nvPr/>
        </p:nvSpPr>
        <p:spPr>
          <a:xfrm>
            <a:off x="581025" y="371192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8"/>
          <p:cNvSpPr/>
          <p:nvPr/>
        </p:nvSpPr>
        <p:spPr>
          <a:xfrm>
            <a:off x="581025" y="4694783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8"/>
          <p:cNvSpPr/>
          <p:nvPr/>
        </p:nvSpPr>
        <p:spPr>
          <a:xfrm>
            <a:off x="581025" y="213285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8"/>
          <p:cNvSpPr/>
          <p:nvPr/>
        </p:nvSpPr>
        <p:spPr>
          <a:xfrm>
            <a:off x="581025" y="213285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8"/>
          <p:cNvSpPr/>
          <p:nvPr/>
        </p:nvSpPr>
        <p:spPr>
          <a:xfrm>
            <a:off x="581025" y="291762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58"/>
          <p:cNvSpPr/>
          <p:nvPr/>
        </p:nvSpPr>
        <p:spPr>
          <a:xfrm>
            <a:off x="581025" y="291762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8"/>
          <p:cNvSpPr/>
          <p:nvPr/>
        </p:nvSpPr>
        <p:spPr>
          <a:xfrm>
            <a:off x="581025" y="370239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8"/>
          <p:cNvSpPr/>
          <p:nvPr/>
        </p:nvSpPr>
        <p:spPr>
          <a:xfrm>
            <a:off x="581025" y="370239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8"/>
          <p:cNvSpPr/>
          <p:nvPr/>
        </p:nvSpPr>
        <p:spPr>
          <a:xfrm>
            <a:off x="581025" y="46852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8"/>
          <p:cNvSpPr/>
          <p:nvPr/>
        </p:nvSpPr>
        <p:spPr>
          <a:xfrm>
            <a:off x="581025" y="46852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8"/>
          <p:cNvSpPr/>
          <p:nvPr/>
        </p:nvSpPr>
        <p:spPr>
          <a:xfrm>
            <a:off x="581025" y="547002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58"/>
          <p:cNvSpPr/>
          <p:nvPr/>
        </p:nvSpPr>
        <p:spPr>
          <a:xfrm>
            <a:off x="581025" y="547002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07033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5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91804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5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765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396046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5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5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7280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58"/>
          <p:cNvSpPr txBox="1"/>
          <p:nvPr/>
        </p:nvSpPr>
        <p:spPr>
          <a:xfrm>
            <a:off x="581025" y="405110"/>
            <a:ext cx="116109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1" i="0" u="none" strike="noStrike" cap="non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644" name="Google Shape;644;p58"/>
          <p:cNvSpPr txBox="1"/>
          <p:nvPr/>
        </p:nvSpPr>
        <p:spPr>
          <a:xfrm>
            <a:off x="1676400" y="1500485"/>
            <a:ext cx="105156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https://i5.walmartimages.com/asr/9dd59ebc-49ea-4091-a8f7-3252da93cec0.5cd6580e927a809dc114874e49940a5b.jpeg?odnHeight=768&amp;odnWidth=768&amp;odnBg=FFFFFF</a:t>
            </a:r>
            <a:endParaRPr/>
          </a:p>
        </p:txBody>
      </p:sp>
      <p:sp>
        <p:nvSpPr>
          <p:cNvPr id="645" name="Google Shape;645;p58"/>
          <p:cNvSpPr txBox="1"/>
          <p:nvPr/>
        </p:nvSpPr>
        <p:spPr>
          <a:xfrm>
            <a:off x="1676400" y="1746200"/>
            <a:ext cx="1051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www.walmart.com</a:t>
            </a:r>
            <a:endParaRPr/>
          </a:p>
        </p:txBody>
      </p:sp>
      <p:sp>
        <p:nvSpPr>
          <p:cNvPr id="646" name="Google Shape;646;p58"/>
          <p:cNvSpPr txBox="1"/>
          <p:nvPr/>
        </p:nvSpPr>
        <p:spPr>
          <a:xfrm>
            <a:off x="1676400" y="2285255"/>
            <a:ext cx="105156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https://images.stockcake.com/public/d/2/f/d2f1d59c-de47-4b61-9f63-8d58dbe43336_large/cyber-security-lock-stockcake.jpg</a:t>
            </a:r>
            <a:endParaRPr/>
          </a:p>
        </p:txBody>
      </p:sp>
      <p:sp>
        <p:nvSpPr>
          <p:cNvPr id="647" name="Google Shape;647;p58"/>
          <p:cNvSpPr txBox="1"/>
          <p:nvPr/>
        </p:nvSpPr>
        <p:spPr>
          <a:xfrm>
            <a:off x="1676400" y="2530971"/>
            <a:ext cx="1051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648" name="Google Shape;648;p58"/>
          <p:cNvSpPr txBox="1"/>
          <p:nvPr/>
        </p:nvSpPr>
        <p:spPr>
          <a:xfrm>
            <a:off x="1676400" y="3070026"/>
            <a:ext cx="105156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https://images.stockcake.com/public/1/9/1/191e20d1-a31c-4471-88e4-f62f6a998bec_medium/cyber-security-patrol-stockcake.jpg</a:t>
            </a:r>
            <a:endParaRPr/>
          </a:p>
        </p:txBody>
      </p:sp>
      <p:sp>
        <p:nvSpPr>
          <p:cNvPr id="649" name="Google Shape;649;p58"/>
          <p:cNvSpPr txBox="1"/>
          <p:nvPr/>
        </p:nvSpPr>
        <p:spPr>
          <a:xfrm>
            <a:off x="1676400" y="3315741"/>
            <a:ext cx="1051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650" name="Google Shape;650;p58"/>
          <p:cNvSpPr txBox="1"/>
          <p:nvPr/>
        </p:nvSpPr>
        <p:spPr>
          <a:xfrm>
            <a:off x="1676400" y="3854797"/>
            <a:ext cx="100298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https://www.ecophon.com/globalassets/new-site/media/images/launches/data-centres/2604_ecophon_data_center_combison_undo_a_web.jpg?width=915&amp;mode=crop&amp;heightratio=0.75&amp;quality=90</a:t>
            </a:r>
            <a:endParaRPr/>
          </a:p>
        </p:txBody>
      </p:sp>
      <p:sp>
        <p:nvSpPr>
          <p:cNvPr id="651" name="Google Shape;651;p58"/>
          <p:cNvSpPr txBox="1"/>
          <p:nvPr/>
        </p:nvSpPr>
        <p:spPr>
          <a:xfrm>
            <a:off x="1676400" y="4298602"/>
            <a:ext cx="1051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www.ecophon.com</a:t>
            </a:r>
            <a:endParaRPr/>
          </a:p>
        </p:txBody>
      </p:sp>
      <p:sp>
        <p:nvSpPr>
          <p:cNvPr id="652" name="Google Shape;652;p58"/>
          <p:cNvSpPr txBox="1"/>
          <p:nvPr/>
        </p:nvSpPr>
        <p:spPr>
          <a:xfrm>
            <a:off x="1676400" y="4837658"/>
            <a:ext cx="105156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https://i.etsystatic.com/63984644/r/il/e3fb9f/8076163921/il_300x300.8076163921_fnjt.jpg</a:t>
            </a:r>
            <a:endParaRPr/>
          </a:p>
        </p:txBody>
      </p:sp>
      <p:sp>
        <p:nvSpPr>
          <p:cNvPr id="653" name="Google Shape;653;p58"/>
          <p:cNvSpPr txBox="1"/>
          <p:nvPr/>
        </p:nvSpPr>
        <p:spPr>
          <a:xfrm>
            <a:off x="1676400" y="5083373"/>
            <a:ext cx="1051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www.etsy.com</a:t>
            </a:r>
            <a:endParaRPr/>
          </a:p>
        </p:txBody>
      </p:sp>
      <p:sp>
        <p:nvSpPr>
          <p:cNvPr id="654" name="Google Shape;654;p58"/>
          <p:cNvSpPr txBox="1"/>
          <p:nvPr/>
        </p:nvSpPr>
        <p:spPr>
          <a:xfrm>
            <a:off x="1676400" y="5622428"/>
            <a:ext cx="100298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https://image.slidesdocs.com/responsive-images/background/abstract-and-elegant-golden-wave-3d-illustration-on-white-with-space-for-copy-powerpoint-background_445eaa6d79__960_540.jpg</a:t>
            </a:r>
            <a:endParaRPr/>
          </a:p>
        </p:txBody>
      </p:sp>
      <p:sp>
        <p:nvSpPr>
          <p:cNvPr id="655" name="Google Shape;655;p58"/>
          <p:cNvSpPr txBox="1"/>
          <p:nvPr/>
        </p:nvSpPr>
        <p:spPr>
          <a:xfrm>
            <a:off x="1676400" y="6066234"/>
            <a:ext cx="105156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slidesdocs.com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2042</Words>
  <Application>Microsoft Office PowerPoint</Application>
  <PresentationFormat>Widescreen</PresentationFormat>
  <Paragraphs>222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Lato</vt:lpstr>
      <vt:lpstr>Playfair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Asrul Abdullah</cp:lastModifiedBy>
  <cp:revision>3</cp:revision>
  <dcterms:modified xsi:type="dcterms:W3CDTF">2026-09-26T23:29:28Z</dcterms:modified>
</cp:coreProperties>
</file>