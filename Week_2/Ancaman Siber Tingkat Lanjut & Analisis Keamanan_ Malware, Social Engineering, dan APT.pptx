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slides/slide45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</ns0:sldIdLst>
  <ns0:sldSz cx="12192000" cy="6858000" type="screen4x3"/>
  <ns0:notesSz cx="6858000" cy="9144000"/>
  <ns0:embeddedFontLst>
    <ns0:embeddedFont>
      <ns0:font typeface="Plus Jakarta Sans"/>
      <ns0:bold ns1:id="rIdFont52"/>
      <ns0:regular ns1:id="rIdFont53"/>
    </ns0:embeddedFont>
    <ns0:embeddedFont>
      <ns0:font typeface="JetBrains Mono"/>
      <ns0:regular ns1:id="rIdFont5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49" Type="http://schemas.openxmlformats.org/officeDocument/2006/relationships/slide" Target="slides/slide43.xml" /><ns0:Relationship Id="rId50" Type="http://schemas.openxmlformats.org/officeDocument/2006/relationships/slide" Target="slides/slide44.xml" /><ns0:Relationship Id="rId51" Type="http://schemas.openxmlformats.org/officeDocument/2006/relationships/slide" Target="slides/slide45.xml" /><ns0:Relationship Id="rIdFont52" Type="http://schemas.openxmlformats.org/officeDocument/2006/relationships/font" Target="fonts/9edeb598-6963-4f12-8076-b88490e8f25d.fntdata" /><ns0:Relationship Id="rIdFont53" Type="http://schemas.openxmlformats.org/officeDocument/2006/relationships/font" Target="fonts/0bface59-f2f3-49ab-b3db-d9687a2a0c17.fntdata" /><ns0:Relationship Id="rIdFont54" Type="http://schemas.openxmlformats.org/officeDocument/2006/relationships/font" Target="fonts/8df603b6-c6a6-4ab2-a00b-70d7a499e27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66531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154584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KEAMANAN SIBER &amp; MITIGASI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78434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Ancaman Siber Tingkat Lanjut: Malware, Social Engineering &amp; 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08065"/>
            <a:ext cx="6762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Analisis komprehensif mengenai vektor serangan modern, modus operandi pelaku ancaman, dan strategi pertahanan siber korporat.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95612"/>
            <a:ext cx="340355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2995612"/>
            <a:ext cx="340355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995612"/>
            <a:ext cx="3403550" cy="1924050"/>
          </a:xfrm>
          <a:prstGeom prst="roundRect">
            <a:avLst>
              <a:gd name="adj" fmla="val 79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3833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STRUKTUR PRESENTASI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85987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Agenda Pembahasan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09937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57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Jenis Malware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148137"/>
            <a:ext cx="287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Ransomware, Trojan, dan Spyware serta mekanisme infeksinya.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309937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7957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Social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4148137"/>
            <a:ext cx="287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Phishing, Spear Phishing, dan manipulasi psikologis manusia.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3309937"/>
            <a:ext cx="34686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79571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Advanced Persistent 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148137"/>
            <a:ext cx="287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Ancaman persisten tingkat lanjut, siklus serangan, dan mitigasi.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38787" y="2643187"/>
            <a:ext cx="1114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MODUL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70509" y="2967037"/>
            <a:ext cx="785098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Ancaman Malware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38562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Plus Jakarta Sans"/>
              </a:rPr>
              <a:t>Memahami varian perangkat lunak berbahaya yang mengancam integritas sistem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938462"/>
            <a:ext cx="5495925" cy="1962150"/>
          </a:xfrm>
          <a:prstGeom prst="roundRect">
            <a:avLst>
              <a:gd name="adj" fmla="val 776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95700"/>
            <a:ext cx="1524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029075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4362450"/>
            <a:ext cx="15240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8478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DEFINISI 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5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Apa itu Malware?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28925"/>
            <a:ext cx="4886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Malware (Malicious Software) adalah istilah payung untuk segala program komputer yang dirancang khusus untuk merusak, mencuri data, atau menyusup ke dalam sistem tanpa izin pemilik.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38625"/>
            <a:ext cx="48863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Mencakup berbagai varian termasuk virus, worm, trojan, spyware, dan ransomware dengan motif finansial maupun spionase.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290887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Dampak Utama Malware: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662362"/>
            <a:ext cx="59055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Pencurian data kredensial &amp; finansial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995737"/>
            <a:ext cx="59055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Penyanderaan file operasional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329112"/>
            <a:ext cx="59055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Kontrol jarak jauh illegal (Botnet)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33712"/>
            <a:ext cx="521970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033712"/>
            <a:ext cx="5219700" cy="1847850"/>
          </a:xfrm>
          <a:prstGeom prst="roundRect">
            <a:avLst>
              <a:gd name="adj" fmla="val 82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7643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DAMPAK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24087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Skala Ancaman Malware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443" y="3348037"/>
            <a:ext cx="573881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Ratusan Juta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443" y="4129087"/>
            <a:ext cx="57388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Varian malware baru terdeteksi setiap tahun oleh lembaga keamanan.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50743" y="3348037"/>
            <a:ext cx="5738812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0284C7"/>
                </a:solidFill>
                <a:latin typeface="Plus Jakarta Sans"/>
              </a:rPr>
              <a:t>Puluhan Miliar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0743" y="4129087"/>
            <a:ext cx="573881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Plus Jakarta Sans"/>
              </a:rPr>
              <a:t>Kerugian finansial tahunan akibat downtime dan tebusan bisnis.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8862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8862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8862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724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MALWARE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71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Ransomware: Penyandera Data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28900"/>
            <a:ext cx="8667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Ransomware mengenkripsi seluruh file penting pada perangkat korban dan menuntut pembayaran tebusan (biasanya dalam cryptocurrency) sebagai syarat untuk mendapatkan kunci dekripsi.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1624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Enkripsi Simetris/Asimetris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4577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Menggunakan algoritma kriptografi tingkat militer.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41624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Tekanan Waktu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44577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Memberikan batas waktu ketat untuk melipatgandakan tebusan.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41624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 Korporat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44577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Menyerang rumah sakit, instansi pemerintah, dan perusahaan besar.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KLASIFIKASI RANSOMWARE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Kategori Utama Ransomware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Crypto Ransomware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Mengunci dan mengenkripsi dokumen, database, dan file media secara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Locker Ransomware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Memblokir total akses ke sistem operasi, pengguna tidak bisa masuk sama sekali.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Doxware / Leakware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Mengancam membocorkan data sensitif ke publik jika tebusan tidak dibayar.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38487"/>
            <a:ext cx="33528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38487"/>
            <a:ext cx="33528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38487"/>
            <a:ext cx="33528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812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PENYEBARAN RANSOMWARE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288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Bagaimana Ransomware Menginfeksi?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14712"/>
            <a:ext cx="35004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01. Phishing 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814762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Lampiran email berbahaya atau tautan palsu yang memicu unduhan otomatis.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14712"/>
            <a:ext cx="35004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02. RDP Vulnerability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814762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Eksploitasi port Remote Desktop Protocol yang tidak dilindungi autentikasi kuat.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14712"/>
            <a:ext cx="350043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03. Drive-by 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14762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Mengunjungi situs web yang telah disusupi kode eksploitasi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3124200"/>
            <a:ext cx="5534025" cy="1666875"/>
          </a:xfrm>
          <a:prstGeom prst="roundRect">
            <a:avLst>
              <a:gd name="adj" fmla="val 91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PERTAHANAN RANSOMWARE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Aturan Emas: Aturan Cadangan 3-2-1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48012"/>
            <a:ext cx="49244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Pakar keamanan menyarankan untuk </a:t>
            </a:r>
            <a:r>
              <a:rPr b="1" sz="1500" i="0" u="none">
                <a:solidFill>
                  <a:srgbClr val="334155"/>
                </a:solidFill>
                <a:latin typeface="Plus Jakarta Sans"/>
              </a:rPr>
              <a:t>TIDAK membayar tebusan</a:t>
            </a:r>
            <a:r>
              <a:rPr b="0" sz="1500" i="0" u="none">
                <a:solidFill>
                  <a:srgbClr val="334155"/>
                </a:solidFill>
                <a:latin typeface="Plus Jakarta Sans"/>
              </a:rPr>
              <a:t> karena tidak ada jaminan data kembali dan justru mendanai sindikat kriminal.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52912"/>
            <a:ext cx="4924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Solusi terkuat adalah implementasi backup data yang tangguh dan isolasi jaringan (air-gapped backup).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3476625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3 Salinan Data: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Dokumen asli + 2 cadangan terpisah.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848100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2 Jenis Media: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Hard drive lokal dan penyimpanan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4219575"/>
            <a:ext cx="5943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1 Salinan Offsite: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Terisolasi secara fisik dari jaringan utama.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764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MALWARE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240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Trojan: Kuda Troya Era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81300"/>
            <a:ext cx="866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Trojan (Trojan Horse) menyamar sebagai perangkat lunak yang sah, berguna, atau menghibur untuk mengecoh pengguna agar menginstalnya secara sukarela.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Tidak Mereplikasi Diri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Berbeda dari virus/worm, Trojan bergantung pada manipulasi instalasi.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Menyembunyikan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Membawa muatan berbahaya di balik aplikasi game atau utilitas populer.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Membuka Akses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Menciptakan pintu belakang (backdoor) bagi penyerang.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KLASIFIKASI TROJAN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Varian Utama Trojan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Backdoor Trojan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Memberikan kontrol jarak jauh penuh kepada peretas atas perangkat korban.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Banking Trojan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Dirancang khusus mencuri data rekening bank, PIN, dan kredensial pembayaran.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Downloader Trojan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Mengunduh dan memasang malware tambahan seperti ransomware atau spyware.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7660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27660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76600"/>
            <a:ext cx="3352800" cy="1362075"/>
          </a:xfrm>
          <a:prstGeom prst="roundRect">
            <a:avLst>
              <a:gd name="adj" fmla="val 83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2193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DETEKSI DINI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669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Indikator Perangkat Terinfeksi Trojan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5528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Performa Drastis Menurun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052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Komputer menjadi sangat lambat atau sering crash tanpa alasan jelas.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5528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Aktivitas Jaringan Anomali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9052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Trafik internet tetap tinggi meski perangkat tidak sedang digunakan.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528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Antivirus Dinonaktifkan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052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Program keamanan tiba-tiba mati atau gagal dijalankan.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764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MALWARE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240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Spyware: Mata-Mata dalam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81300"/>
            <a:ext cx="866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Spyware adalah perangkat lunak tersembunyi yang mengumpulkan informasi tentang pengguna, kebiasaan browsing, dan data sensitif tanpa sepengetahuan korban.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Operasi Senyap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Dirancang agar tidak mengganggu operasional normal perangkat.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Pencurian Kredensial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Merekam setiap ketukan keyboard (keylogger) dan password.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Eksfiltrasi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Mengirimkan data curian secara berkala ke server penyerang.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KLASIFIKASI SPYWARE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Varian Utama Spyware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Keylogger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Merekam setiap tombol yang ditekan keyboard untuk mencuri password dan PIN.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Infostealer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Memindai perangkat untuk mengambil cookie browser, riwayat, dan dokumen pribadi.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Adware Komersial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Melacak kebiasaan web untuk menyusupkan iklan bertarget dan mencuri privasi.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RANGKUMAN MODUL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Praktik Terbaik Melawan Malware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Patch &amp; Update Berkala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Selalu perbarui sistem operasi dan perangkat lunak untuk menutup celah keamanan.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Endpoint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Gunakan solusi EDR (Endpoint Detection and Response) modern yang aktif.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Kesadaran Pengguna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Edukasi karyawan agar tidak sembarangan mengunduh file atau mengeklik tautan.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9262" y="2643187"/>
            <a:ext cx="1133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MODUL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8164" y="2967037"/>
            <a:ext cx="53756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38562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Plus Jakarta Sans"/>
              </a:rPr>
              <a:t>Seni memanipulasi psikologi manusia untuk membocorkan informasi rahasia.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938462"/>
            <a:ext cx="5495925" cy="1962150"/>
          </a:xfrm>
          <a:prstGeom prst="roundRect">
            <a:avLst>
              <a:gd name="adj" fmla="val 776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95700"/>
            <a:ext cx="15240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29075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362450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957387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KONSEP 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05037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Memahami Social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57512"/>
            <a:ext cx="4886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Social Engineering adalah teknik manipulasi psikologis yang menipu individu agar menyerahkan informasi sensitif, kata sandi, atau memberikan akses ke sistem jaringan.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367212"/>
            <a:ext cx="48863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Peretas sering mengeksploitasi sifat alami manusia seperti rasa percaya, takut, penasaran, dan rasa ingin membantu.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290887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Prinsip Psikologis Utama: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662362"/>
            <a:ext cx="5905500" cy="219075"/>
          </a:xfrm>
          <a:prstGeom prst="rect">
            <a:avLst/>
          </a:prstGeom>
          <a:noFill/>
        </p:spPr>
        <p:txBody>
          <a:bodyPr wrap="none" lIns="2667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Urgensi (Tekanan Waktu)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995737"/>
            <a:ext cx="59055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Otoritas Palsu (Pimpinan/Direksi)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329112"/>
            <a:ext cx="59055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Kepercayaan &amp; Empati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FAKTOR MANUSIA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Mengapa Manusia Adalah "Firewall" Terlemah?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Kecenderungan Membantu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Karyawan secara alami ingin menolong rekan kerja atau klien yang membutuhkan.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Ketakutan pada Konsekuensi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Rasa takut mendapat sanksi dari atasan membuat korban cepat patuh tanpa verifikasi.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Kurangnya Literasi Keamanan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Kurang mengenali tanda-tanda manipulasi digital yang canggih.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733800"/>
            <a:ext cx="340355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8764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SOCIAL ENGINEERING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240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Phishing: Menjala Korban Skala Luas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81300"/>
            <a:ext cx="866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Phishing adalah pengiriman pesan massal (biasanya via email) yang menyamar sebagai entitas terpercaya (bank, e-commerce, institusi resmi) untuk mencuri data pribadi.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Penyebaran Masif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Dikirimkan ke ribuan alamat email secara bersamaan.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Tautan Palsu (Spoofing)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Mengarahkan korban ke situs web tiruan yang menyerupai aslinya.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401002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Umpan Menggiurkan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430530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Menawarkan hadiah, pembaruan akun, atau ancaman pemblokiran.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ANATOMI SERANGAN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Ciri-Ciri Utama Email 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Alamat Pengirim Palsu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Domain sedikit berbeda dari aslinya (misal: support@bank-cental.co).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Tata Bahasa Buruk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Sering ditemukan kesalahan ketik atau terjemahan mesin yang kaku.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Desakan Mendesak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Memaksa korban bertindak dalam waktu 24 jam untuk menghindari sanksi.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633787"/>
            <a:ext cx="340355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633787"/>
            <a:ext cx="340355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633787"/>
            <a:ext cx="340355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7764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SOCIAL ENGINEERING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240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Spear Phishing: Serangan Tertarget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681287"/>
            <a:ext cx="8667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Spear Phishing adalah bentuk phishing yang sangat disesuaikan (customized) dan ditujukan kepada individu atau kelompok tertentu di dalam perusahaan (misal: CFO, HR, IT Admin).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1001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Riset Mendalam (OSINT)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225" y="4205287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Penyerang mempelajari latar belakang, hobi, dan relasi target via media sosial.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91001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Personalisasi Tinggi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0375" y="4205287"/>
            <a:ext cx="29463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Email menyebut nama lengkap, jabatan, dan proyek internal yang sedang dikerjakan.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910012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Tingkat Keberhasilan 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525" y="4205287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Sangat sulit dideteksi karena tampak sangat sah dan relevan.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17043"/>
            <a:ext cx="5181600" cy="1881187"/>
          </a:xfrm>
          <a:prstGeom prst="roundRect">
            <a:avLst>
              <a:gd name="adj" fmla="val 8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17043"/>
            <a:ext cx="5181600" cy="1881187"/>
          </a:xfrm>
          <a:prstGeom prst="roundRect">
            <a:avLst>
              <a:gd name="adj" fmla="val 81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59768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ANALISIS KOMPARATIF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07418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Phishing vs Spear 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336131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Phishing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331368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Spear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55231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Target: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Massal / Siapa saja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69556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Personalisasi: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Rendah / Umum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83881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Tujuan: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Kredensial umum &amp; kartu kredit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750468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Target: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Individu spesifik / Eksekutif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64793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Personalisasi: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Sangat tinggi &amp; mendalam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79118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Tujuan: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Infiltrasi jaringan &amp; spionase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VARIAN LANJUTAN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Vishing, Smishing, dan Whaling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Vishing (Voice Phishing)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Penipuan via panggilan telepon menggunakan teknologi suara sintetis (AI voice cloning).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Smishing (SMS Phishing)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Pesan singkat SMS berisi tautan jebakan penipuan undian atau kurir palsu.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Whaling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Spear phishing tingkat lanjut yang mengincar "ikan paus" (CEO, Dewan Direksi).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PERTAHANAN MANUSIA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Strategi Pertahanan Terhadap Social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Pelatihan Kesadaran Rutin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Simulasi phishing berkala untuk menguji kewaspadaan staf korporat.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Verifikasi Out-of-Band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Selalu konfirmasi permintaan transfer atau data penting melalui saluran komunikasi berbeda.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Budaya "Zero Trust"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Mendorong karyawan untuk berani mempertanyakan perintah yang mencurigakan.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3124200"/>
            <a:ext cx="5534025" cy="1666875"/>
          </a:xfrm>
          <a:prstGeom prst="roundRect">
            <a:avLst>
              <a:gd name="adj" fmla="val 91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509962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881437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252912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RANGKUMAN MODUL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Poin Kunci Social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0412"/>
            <a:ext cx="49244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Teknologi canggih sekalipun dapat dijebol apabila pengguna akhir mudah dimanipulasi secara psikologis.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00512"/>
            <a:ext cx="4924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Edukasi berkelanjutan adalah benteng pertahanan paling efektif terhadap serangan manipulasi manusia.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476625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Waspadai tekanan waktu mendadak.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848100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Periksa detail pengirim email secara teliti.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219575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Terapkan protokol verifikasi ganda.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0" y="2352675"/>
            <a:ext cx="1143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MODUL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5375" y="2676525"/>
            <a:ext cx="100012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Plus Jakarta Sans"/>
              </a:rPr>
              <a:t>Advanced Persistent Threats (APT)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402907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Plus Jakarta Sans"/>
              </a:rPr>
              <a:t>Ancaman persisten tingkat lanjut yang tersembunyi, terorganisir, dan disponsori negara.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938462"/>
            <a:ext cx="5495925" cy="1962150"/>
          </a:xfrm>
          <a:prstGeom prst="roundRect">
            <a:avLst>
              <a:gd name="adj" fmla="val 776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3695700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029075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362450"/>
            <a:ext cx="219075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8478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DEFINISI LANJUTAN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955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Apa itu Advanced Persistent Threat (APT)?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828925"/>
            <a:ext cx="4886325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APT adalah kampanye serangan siber berkepanjangan dan bertarget di mana penyusup berhasil masuk ke jaringan dan tetap tersembunyi dalam jangka waktu sangat lama.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38625"/>
            <a:ext cx="48863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Tujuan utamanya bukan kerusakan instan, melainkan spionase jangka panjang, pencurian kekayaan intelektual, atau sabotase strategis.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3290887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Karakteristik Utama APT: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3662362"/>
            <a:ext cx="59055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Target bernilai tinggi (Pemerintahan/Militer)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995737"/>
            <a:ext cx="59055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Kehadiran jangka panjang (Persistent)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329112"/>
            <a:ext cx="5905500" cy="21907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Sumber daya melimpah (State-Sponsored)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9900"/>
            <a:ext cx="3403550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09900"/>
            <a:ext cx="3403550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09900"/>
            <a:ext cx="3403550" cy="1895475"/>
          </a:xfrm>
          <a:prstGeom prst="roundRect">
            <a:avLst>
              <a:gd name="adj" fmla="val 80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526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ANATOMI KARAKTERISTIK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002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Tiga Pilar Utama APT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242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Advanced (Canggih)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676650"/>
            <a:ext cx="28701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Menggunakan berbagai vektor serangan kombinasi termasuk eksploitasi zero-day dan malware custom.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3242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Persistent (Persisten)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6766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Menjaga akses berkelanjutan selama berbulan-bulan atau bertahun-tahun tanpa terdeteksi.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3242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Threat (Ancaman Terorganisir)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6766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Dijalankan oleh sindikat terorganisir dengan pendanaan dan tujuan strategis spesifik.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574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KILL CHAIN APT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50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Fase 1 &amp; 2: Pengintaian &amp; Akses 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529012"/>
            <a:ext cx="5691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01. Reconnaissance (Pengintaian)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Mengumpulkan informasi target secara mendalam melalui OSINT, media sosial, dan kerentanan publik.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2901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02. Initial Access (Akses Awal)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Menembus perimeter menggunakan spear phishing bertarget tinggi atau eksploitasi zero-day unpatched.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574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KILL CHAIN APT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50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Fase 3 &amp; 4: Eskalasi &amp; Pergerakan Lateral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529012"/>
            <a:ext cx="5691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03. Persistence &amp;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Memasang backdoor tersembunyi dan meningkatkan hak akses (privilege escalation) ke tingkat administrator.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2901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04. Lateral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Bergerak perlahan antar server internal untuk menemukan repositori data paling berharga.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574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KILL CHAIN APT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50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Fase 5 &amp; 6: Pengumpulan &amp; Ekstradisi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529012"/>
            <a:ext cx="5691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05. Command &amp; Control (C2)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Menjaga koneksi terenkripsi stabil ke server eksternal pengendali untuk instruksi jarak jauh.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2901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06. Data Exfiltration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Mengumpulkan dan mencuri data secara bertahap dalam volume kecil agar tidak memicu alarm keamanan.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19425"/>
            <a:ext cx="5181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19425"/>
            <a:ext cx="51816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9621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ANALISIS KOMPARATIF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098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APT vs Malware Konvensional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333750"/>
            <a:ext cx="59757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Malware Konvensional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3333750"/>
            <a:ext cx="56292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Advanced Persistent Threat (APT)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52850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Motif: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Keuntungan finansial cepat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4067175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Durasi: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Singkat dan masif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6325" y="4381500"/>
            <a:ext cx="5691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Deteksi: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Mudah ditemukan antivirus biasa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752850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Motif: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Spionase strategis / Geopolitik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67175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Durasi: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Sangat panjang (Silent &amp; Hidden)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381500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Deteksi: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Memerlukan analitik perilaku tingkat lanjut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DETEKSI ANCAMAN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Indikator Kompromi (IoC) Serangan APT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Logon di Luar Jam Kerja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Aktivitas akun hak istimewa tinggi terjadi pada dini hari atau zona waktu asing.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Lonjakan Backdoor Trojan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Peningkatan tiba-tiba deteksi pintu belakang di berbagai titik endpoint.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Transfer Data Tak Lazim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Volume keluar jaringan melonjak drastis ke alamat IP eksternal mencurigakan.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MITIGASI 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Langkah Pertahanan Proaktif Terhadap APT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Network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Mmembagi jaringan internal agar peretas tidak mudah bergerak secara lateral.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SIEM &amp; Threat Hunting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Pemantauan log terpusat dan perburuan ancaman aktif secara proaktif.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Zero Trust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Prinsip "Never trust, always verify" untuk setiap akses pengguna dan perangkat.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3124200"/>
            <a:ext cx="5534025" cy="1666875"/>
          </a:xfrm>
          <a:prstGeom prst="roundRect">
            <a:avLst>
              <a:gd name="adj" fmla="val 91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509962"/>
            <a:ext cx="171450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881437"/>
            <a:ext cx="17145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252912"/>
            <a:ext cx="171450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962150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RANGKUMAN MODUL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09800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Poin Kunci Advanced Persistent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19425"/>
            <a:ext cx="49244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APT mewakili tingkat ancaman siber tertinggi yang memerlukan pendekatan keamanan berlapis dan respons insiden matang.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24325"/>
            <a:ext cx="492442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Deteksi dini berbasis anomali perilaku adalah kunci utama memotong rantai serangan APT sebelum data penting dieksfiltrasi.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476625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Fokus pada pencegahan pergerakan lateral.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848100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Terapkan segmentasi jaringan ketat.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219575"/>
            <a:ext cx="5943600" cy="21907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Tingkatkan visibilitas log secara menyeluruh.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005137"/>
            <a:ext cx="340355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005137"/>
            <a:ext cx="340355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005137"/>
            <a:ext cx="3403550" cy="1905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4786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INTEGRASI ANCAMAN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19551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Bagaimana Ketiga Ancaman Saling Terkait?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319462"/>
            <a:ext cx="3013657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Pintu Masuk (Social Engineering)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910012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APT dan Malware sering kali dimulai melalui serangan spear phishing yang sukses.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31946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Alat Eksekusi (Malware)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671887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Trojan dan Spyware ditanamkan untuk mencuri kredensial dan membuka akses jangka panjang.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319462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Operasi Utama (APT)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671887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Seluruh elemen tersebut dikombinasikan dalam kampanye APT untuk spionase korporat.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33750"/>
            <a:ext cx="340355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333750"/>
            <a:ext cx="340355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333750"/>
            <a:ext cx="3403550" cy="1247775"/>
          </a:xfrm>
          <a:prstGeom prst="roundRect">
            <a:avLst>
              <a:gd name="adj" fmla="val 1221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27647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STANDAR INDUSTRI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2412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Kerangka Kerja NIST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6099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Identify (Identifikasi)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0525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Memahami aset, risiko sistem, dan kerentanan organisasi.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375" y="36099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Protect (Lindungi)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0375" y="390525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Menerapkan kontrol akses, enkripsi, dan pelatihan staf.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525" y="3609975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Detect (Deteksi)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525" y="3905250"/>
            <a:ext cx="2946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Pemantauan aktivitas mencurigakan secara real-time.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14687"/>
            <a:ext cx="5181600" cy="1485900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57412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STANDAR INDUSTRI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5062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Respon dan Pemulihan (NIST Framework)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529012"/>
            <a:ext cx="56911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Respond (Respon)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Mengambil tindakan cepat untuk mengisolasi insiden keamanan, membatasi dampak, dan investigasi forensik.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3529012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284C7"/>
                </a:solidFill>
                <a:latin typeface="Plus Jakarta Sans"/>
              </a:rPr>
              <a:t>Recover (Pemulihan)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929062"/>
            <a:ext cx="4648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Memulihkan layanan normal menggunakan backup yang aman dan perbaikan kerentanan sistem.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TIM TANGGAP DARURAT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Pentingnya Incident Response Plan (IRP)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Prosedur Jelas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Langkah terstruktur saat terjadi serangan ransomware atau infiltrasi APT.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Komunikasi Krisis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Koordinasi internal dan eksternal (regulator &amp; hukum) saat breach terjadi.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Simulasi Berkala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Tabletop exercise untuk memastikan tim siap menghadapi skenario terburuk.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95975" y="3124200"/>
            <a:ext cx="5534025" cy="1666875"/>
          </a:xfrm>
          <a:prstGeom prst="roundRect">
            <a:avLst>
              <a:gd name="adj" fmla="val 914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509962"/>
            <a:ext cx="219075" cy="18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3881437"/>
            <a:ext cx="219075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4252912"/>
            <a:ext cx="219075" cy="180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BUDAYA PERUSAHAAN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Membangun Budaya Kesadaran Keamanan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148012"/>
            <a:ext cx="49244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Plus Jakarta Sans"/>
              </a:rPr>
              <a:t>Keamanan siber bukan hanya tanggung jawab departemen IT, melainkan seluruh elemen organisasi dari staf hingga jajaran direksi.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252912"/>
            <a:ext cx="49244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Plus Jakarta Sans"/>
              </a:rPr>
              <a:t>Pelatihan rutin menciptakan lingkungan kerja di mana setiap pegawai peka terhadap anomali keamanan.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3476625"/>
            <a:ext cx="5943600" cy="21907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Pelatihan anti-phishing bulanan.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3848100"/>
            <a:ext cx="5943600" cy="21907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Kampanye pelaporan email mencurigakan.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4219575"/>
            <a:ext cx="5943600" cy="219075"/>
          </a:xfrm>
          <a:prstGeom prst="rect">
            <a:avLst/>
          </a:prstGeom>
          <a:noFill/>
        </p:spPr>
        <p:txBody>
          <a:bodyPr wrap="none" lIns="333375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Kebijakan kata sandi kuat &amp; MFA wajib.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9415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3124200"/>
            <a:ext cx="340355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0669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MASA DEPAN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145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Tren dan Teknologi Pertahanan Masa Depan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AI &amp;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632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Otomatisasi deteksi ancaman anomali secara real-time menggunakan kecerdasan buatan.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847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Zero Trust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8475" y="3790950"/>
            <a:ext cx="28701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Adopsi total model verifikasi berkelanjutan untuk seluruh akses pengguna.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0625" y="3438525"/>
            <a:ext cx="364205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Extended Detection (XDR)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90950"/>
            <a:ext cx="2870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Integrasi visibilitas keamanan lintas endpoint, server, dan cloud.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352800" cy="1590675"/>
          </a:xfrm>
          <a:prstGeom prst="roundRect">
            <a:avLst>
              <a:gd name="adj" fmla="val 71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10502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5267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Poin Penting untuk Organisasi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Ancaman Terus Berkembang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790950"/>
            <a:ext cx="289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Malware, social engineering, dan APT semakin canggih dan terotomatisasi.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Pertahanan Berlapis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Tidak ada satu pun solusi tunggal; diperlukan strategi holistik teknologi &amp; manusia.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5004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Kesiapan Insiden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0950"/>
            <a:ext cx="289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64748B"/>
                </a:solidFill>
                <a:latin typeface="Plus Jakarta Sans"/>
              </a:rPr>
              <a:t>Selalu siap menghadapi skenario terburuk dengan backup dan rencana respons.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3333750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3333750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33750"/>
            <a:ext cx="33528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276475"/>
            <a:ext cx="1143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REFERENSI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24125"/>
            <a:ext cx="1143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Referensi &amp; Standar Industri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225" y="3609975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NIST SP 800-53 / 800-61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905250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Panduan keamanan sistem informasi dan penanganan insiden.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609975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MITRE ATT&amp;CK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5825" y="3905250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Basis pengetahuan taktik dan teknik musuh berbasis observasi dunia nyata.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609975"/>
            <a:ext cx="36754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OWASP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905250"/>
            <a:ext cx="2895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Sumber daya keamanan aplikasi dan edukasi risiko siber.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57750" y="2619375"/>
            <a:ext cx="2476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DISKUSI &amp; TANYA JAWAB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83310" y="2943225"/>
            <a:ext cx="3025378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Sesi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4125" y="3762375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64748B"/>
                </a:solidFill>
                <a:latin typeface="Plus Jakarta Sans"/>
              </a:rPr>
              <a:t>Silakan ajukan pertanyaan atau diskusikan strategi keamanan siber organisasi Anda.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04959" y="952500"/>
            <a:ext cx="324891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745033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1783" y="609600"/>
            <a:ext cx="6382985" cy="544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Tetap Waspada, Amankan Aset Digital 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5567" y="609600"/>
            <a:ext cx="3804642" cy="563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Keamanan siber adalah proses berkelanjutan, bukan sekadar proyek sekali selesai.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